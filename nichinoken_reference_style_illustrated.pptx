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6766560" cy="32004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Aft>
                <a:spcPts val="300"/>
              </a:spcAft>
              <a:defRPr sz="1100" b="1">
                <a:solidFill>
                  <a:srgbClr val="76828E"/>
                </a:solidFill>
                <a:latin typeface="Yu Gothic"/>
              </a:defRPr>
            </a:pPr>
            <a:r>
              <a:t>日能研 御器所校｜保護者向け説明会</a:t>
            </a:r>
          </a:p>
        </p:txBody>
      </p:sp>
      <p:cxnSp>
        <p:nvCxnSpPr>
          <p:cNvPr id="4" name="Connector 3"/>
          <p:cNvCxnSpPr/>
          <p:nvPr/>
        </p:nvCxnSpPr>
        <p:spPr>
          <a:xfrm flipV="1">
            <a:off x="731520" y="2606040"/>
            <a:ext cx="548640" cy="228600"/>
          </a:xfrm>
          <a:prstGeom prst="line">
            <a:avLst/>
          </a:prstGeom>
          <a:ln w="17780">
            <a:solidFill>
              <a:srgbClr val="992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280160" y="2606040"/>
            <a:ext cx="502920" cy="45720"/>
          </a:xfrm>
          <a:prstGeom prst="line">
            <a:avLst/>
          </a:prstGeom>
          <a:ln w="17780">
            <a:solidFill>
              <a:srgbClr val="992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783080" y="2651760"/>
            <a:ext cx="411480" cy="411480"/>
          </a:xfrm>
          <a:prstGeom prst="line">
            <a:avLst/>
          </a:prstGeom>
          <a:ln w="17780">
            <a:solidFill>
              <a:srgbClr val="992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194560" y="3063240"/>
            <a:ext cx="411480" cy="228600"/>
          </a:xfrm>
          <a:prstGeom prst="line">
            <a:avLst/>
          </a:prstGeom>
          <a:ln w="17780">
            <a:solidFill>
              <a:srgbClr val="992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2606040" y="3246120"/>
            <a:ext cx="411480" cy="45720"/>
          </a:xfrm>
          <a:prstGeom prst="line">
            <a:avLst/>
          </a:prstGeom>
          <a:ln w="17780">
            <a:solidFill>
              <a:srgbClr val="992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3017520" y="2926080"/>
            <a:ext cx="411480" cy="320040"/>
          </a:xfrm>
          <a:prstGeom prst="line">
            <a:avLst/>
          </a:prstGeom>
          <a:ln w="17780">
            <a:solidFill>
              <a:srgbClr val="992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3429000" y="2697480"/>
            <a:ext cx="411480" cy="228600"/>
          </a:xfrm>
          <a:prstGeom prst="line">
            <a:avLst/>
          </a:prstGeom>
          <a:ln w="17780">
            <a:solidFill>
              <a:srgbClr val="992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3840480" y="2651760"/>
            <a:ext cx="457200" cy="45720"/>
          </a:xfrm>
          <a:prstGeom prst="line">
            <a:avLst/>
          </a:prstGeom>
          <a:ln w="17780">
            <a:solidFill>
              <a:srgbClr val="992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480560" y="2286000"/>
            <a:ext cx="6858000" cy="64008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Aft>
                <a:spcPts val="300"/>
              </a:spcAft>
              <a:defRPr sz="2800" b="1">
                <a:solidFill>
                  <a:srgbClr val="27313D"/>
                </a:solidFill>
                <a:latin typeface="Yu Gothic"/>
              </a:defRPr>
            </a:pPr>
            <a:r>
              <a:t>9歳前後の子どもと、日能研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990088"/>
            <a:ext cx="6492240" cy="45720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Aft>
                <a:spcPts val="300"/>
              </a:spcAft>
              <a:defRPr sz="1500" b="0">
                <a:solidFill>
                  <a:srgbClr val="697F96"/>
                </a:solidFill>
                <a:latin typeface="Yu Gothic"/>
              </a:defRPr>
            </a:pPr>
            <a:r>
              <a:t>中学受験への「やる気」は、どう育つのか。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5925312"/>
            <a:ext cx="10881360" cy="10972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0" y="6080760"/>
            <a:ext cx="2926080" cy="25603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>
              <a:spcAft>
                <a:spcPts val="300"/>
              </a:spcAft>
              <a:defRPr sz="900" b="1">
                <a:solidFill>
                  <a:srgbClr val="76828E"/>
                </a:solidFill>
                <a:latin typeface="Yu Gothic"/>
              </a:defRPr>
            </a:pPr>
            <a:r>
              <a:t>NICHINOKEN  /  御器所校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1045952" y="512064"/>
            <a:ext cx="182880" cy="0"/>
          </a:xfrm>
          <a:prstGeom prst="line">
            <a:avLst/>
          </a:prstGeom>
          <a:ln w="13970">
            <a:solidFill>
              <a:srgbClr val="9736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1137392" y="420624"/>
            <a:ext cx="0" cy="182880"/>
          </a:xfrm>
          <a:prstGeom prst="line">
            <a:avLst/>
          </a:prstGeom>
          <a:ln w="13970">
            <a:solidFill>
              <a:srgbClr val="9736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1087100" y="461772"/>
            <a:ext cx="100584" cy="100584"/>
          </a:xfrm>
          <a:prstGeom prst="line">
            <a:avLst/>
          </a:prstGeom>
          <a:ln w="10160">
            <a:solidFill>
              <a:srgbClr val="9736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1087100" y="461772"/>
            <a:ext cx="100584" cy="100584"/>
          </a:xfrm>
          <a:prstGeom prst="line">
            <a:avLst/>
          </a:prstGeom>
          <a:ln w="10160">
            <a:solidFill>
              <a:srgbClr val="9736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046720" y="5440680"/>
            <a:ext cx="3246120" cy="0"/>
          </a:xfrm>
          <a:prstGeom prst="line">
            <a:avLst/>
          </a:prstGeom>
          <a:ln w="12700">
            <a:solidFill>
              <a:srgbClr val="AAB7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10002621" y="4343400"/>
            <a:ext cx="230428" cy="230428"/>
          </a:xfrm>
          <a:prstGeom prst="ellipse">
            <a:avLst/>
          </a:prstGeom>
          <a:solidFill>
            <a:srgbClr val="9736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rapezoid 21"/>
          <p:cNvSpPr/>
          <p:nvPr/>
        </p:nvSpPr>
        <p:spPr>
          <a:xfrm>
            <a:off x="9954615" y="4554626"/>
            <a:ext cx="326440" cy="499262"/>
          </a:xfrm>
          <a:prstGeom prst="trapezoid">
            <a:avLst/>
          </a:prstGeom>
          <a:solidFill>
            <a:srgbClr val="9736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 flipH="1">
            <a:off x="9954615" y="4996281"/>
            <a:ext cx="86411" cy="307239"/>
          </a:xfrm>
          <a:prstGeom prst="line">
            <a:avLst/>
          </a:prstGeom>
          <a:ln w="40005">
            <a:solidFill>
              <a:srgbClr val="9736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0185044" y="4996281"/>
            <a:ext cx="96012" cy="307239"/>
          </a:xfrm>
          <a:prstGeom prst="line">
            <a:avLst/>
          </a:prstGeom>
          <a:ln w="40005">
            <a:solidFill>
              <a:srgbClr val="9736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531352" y="4526280"/>
            <a:ext cx="219455" cy="0"/>
          </a:xfrm>
          <a:prstGeom prst="line">
            <a:avLst/>
          </a:prstGeom>
          <a:ln w="13970">
            <a:solidFill>
              <a:srgbClr val="688B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641080" y="4416552"/>
            <a:ext cx="0" cy="219456"/>
          </a:xfrm>
          <a:prstGeom prst="line">
            <a:avLst/>
          </a:prstGeom>
          <a:ln w="13970">
            <a:solidFill>
              <a:srgbClr val="688B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580729" y="4465929"/>
            <a:ext cx="120701" cy="120701"/>
          </a:xfrm>
          <a:prstGeom prst="line">
            <a:avLst/>
          </a:prstGeom>
          <a:ln w="10160">
            <a:solidFill>
              <a:srgbClr val="688B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8580729" y="4465929"/>
            <a:ext cx="120701" cy="120701"/>
          </a:xfrm>
          <a:prstGeom prst="line">
            <a:avLst/>
          </a:prstGeom>
          <a:ln w="10160">
            <a:solidFill>
              <a:srgbClr val="688B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744200" y="4069080"/>
            <a:ext cx="182880" cy="0"/>
          </a:xfrm>
          <a:prstGeom prst="line">
            <a:avLst/>
          </a:prstGeom>
          <a:ln w="13970">
            <a:solidFill>
              <a:srgbClr val="9736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0835640" y="3977640"/>
            <a:ext cx="0" cy="182880"/>
          </a:xfrm>
          <a:prstGeom prst="line">
            <a:avLst/>
          </a:prstGeom>
          <a:ln w="13970">
            <a:solidFill>
              <a:srgbClr val="9736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0785348" y="4018788"/>
            <a:ext cx="100584" cy="100584"/>
          </a:xfrm>
          <a:prstGeom prst="line">
            <a:avLst/>
          </a:prstGeom>
          <a:ln w="10160">
            <a:solidFill>
              <a:srgbClr val="9736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10785348" y="4018788"/>
            <a:ext cx="100584" cy="100584"/>
          </a:xfrm>
          <a:prstGeom prst="line">
            <a:avLst/>
          </a:prstGeom>
          <a:ln w="10160">
            <a:solidFill>
              <a:srgbClr val="9736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01168"/>
            <a:ext cx="7040880" cy="29260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Aft>
                <a:spcPts val="300"/>
              </a:spcAft>
              <a:defRPr sz="1200" b="1">
                <a:solidFill>
                  <a:srgbClr val="76828E"/>
                </a:solidFill>
                <a:latin typeface="Yu Gothic"/>
              </a:defRPr>
            </a:pPr>
            <a:r>
              <a:t>9歳前後の子どもと、日能研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03504"/>
            <a:ext cx="438912" cy="32004"/>
          </a:xfrm>
          <a:prstGeom prst="rect">
            <a:avLst/>
          </a:prstGeom>
          <a:solidFill>
            <a:srgbClr val="992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869680" y="201168"/>
            <a:ext cx="2194560" cy="2743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>
              <a:spcAft>
                <a:spcPts val="300"/>
              </a:spcAft>
              <a:defRPr sz="1000" b="1">
                <a:solidFill>
                  <a:srgbClr val="697F96"/>
                </a:solidFill>
                <a:latin typeface="Yu Gothic"/>
              </a:defRPr>
            </a:pPr>
            <a:r>
              <a:t>問題提起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182880"/>
            <a:ext cx="438912" cy="2743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>
              <a:spcAft>
                <a:spcPts val="300"/>
              </a:spcAft>
              <a:defRPr sz="1000" b="0">
                <a:solidFill>
                  <a:srgbClr val="76828E"/>
                </a:solidFill>
                <a:latin typeface="Yu Gothic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143000"/>
            <a:ext cx="10515600" cy="68580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Aft>
                <a:spcPts val="300"/>
              </a:spcAft>
              <a:defRPr sz="2900" b="1">
                <a:solidFill>
                  <a:srgbClr val="27313D"/>
                </a:solidFill>
                <a:latin typeface="Yu Gothic"/>
              </a:defRPr>
            </a:pPr>
            <a:r>
              <a:t>中学受験への「やる気」は、まだありません。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1965960"/>
            <a:ext cx="9966960" cy="5943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Aft>
                <a:spcPts val="300"/>
              </a:spcAft>
              <a:defRPr sz="1700" b="0">
                <a:solidFill>
                  <a:srgbClr val="76828E"/>
                </a:solidFill>
                <a:latin typeface="Yu Gothic"/>
              </a:defRPr>
            </a:pPr>
            <a:r>
              <a:t>9歳前後の子どもにとって、「未来の自分」はまだ遠い存在です。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3063240"/>
            <a:ext cx="10561320" cy="1965960"/>
          </a:xfrm>
          <a:prstGeom prst="rect">
            <a:avLst/>
          </a:prstGeom>
          <a:solidFill>
            <a:srgbClr val="FFFFFF"/>
          </a:solidFill>
          <a:ln w="27940">
            <a:solidFill>
              <a:srgbClr val="992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3383280"/>
            <a:ext cx="9966960" cy="5029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Aft>
                <a:spcPts val="300"/>
              </a:spcAft>
              <a:defRPr sz="2400" b="1">
                <a:solidFill>
                  <a:srgbClr val="992D23"/>
                </a:solidFill>
                <a:latin typeface="Yu Gothic"/>
              </a:defRPr>
            </a:pPr>
            <a:r>
              <a:t>「未来の自分」よりも、「今の自分」。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4069080"/>
            <a:ext cx="9875520" cy="5029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Aft>
                <a:spcPts val="300"/>
              </a:spcAft>
              <a:defRPr sz="1600" b="0">
                <a:solidFill>
                  <a:srgbClr val="27313D"/>
                </a:solidFill>
                <a:latin typeface="Yu Gothic"/>
              </a:defRPr>
            </a:pPr>
            <a:r>
              <a:t>目の前の楽しさや達成感が、学び始めるきっかけになります。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510528"/>
            <a:ext cx="3657600" cy="16459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Aft>
                <a:spcPts val="300"/>
              </a:spcAft>
              <a:defRPr sz="800" b="0">
                <a:solidFill>
                  <a:srgbClr val="76828E"/>
                </a:solidFill>
                <a:latin typeface="Yu Gothic"/>
              </a:defRPr>
            </a:pPr>
            <a:r>
              <a:t>日能研 御器所校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1045952" y="512064"/>
            <a:ext cx="182880" cy="0"/>
          </a:xfrm>
          <a:prstGeom prst="line">
            <a:avLst/>
          </a:prstGeom>
          <a:ln w="13970">
            <a:solidFill>
              <a:srgbClr val="688B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1137392" y="420624"/>
            <a:ext cx="0" cy="182880"/>
          </a:xfrm>
          <a:prstGeom prst="line">
            <a:avLst/>
          </a:prstGeom>
          <a:ln w="13970">
            <a:solidFill>
              <a:srgbClr val="688B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1087100" y="461772"/>
            <a:ext cx="100584" cy="100584"/>
          </a:xfrm>
          <a:prstGeom prst="line">
            <a:avLst/>
          </a:prstGeom>
          <a:ln w="10160">
            <a:solidFill>
              <a:srgbClr val="688B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1087100" y="461772"/>
            <a:ext cx="100584" cy="100584"/>
          </a:xfrm>
          <a:prstGeom prst="line">
            <a:avLst/>
          </a:prstGeom>
          <a:ln w="10160">
            <a:solidFill>
              <a:srgbClr val="688B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8412480" y="2743200"/>
            <a:ext cx="594360" cy="2194560"/>
          </a:xfrm>
          <a:prstGeom prst="rect">
            <a:avLst/>
          </a:prstGeom>
          <a:solidFill>
            <a:srgbClr val="E8EFF4"/>
          </a:solidFill>
          <a:ln w="8890">
            <a:solidFill>
              <a:srgbClr val="688B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558784" y="3063240"/>
            <a:ext cx="73152" cy="100584"/>
          </a:xfrm>
          <a:prstGeom prst="rect">
            <a:avLst/>
          </a:prstGeom>
          <a:solidFill>
            <a:srgbClr val="688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759952" y="3063240"/>
            <a:ext cx="73152" cy="100584"/>
          </a:xfrm>
          <a:prstGeom prst="rect">
            <a:avLst/>
          </a:prstGeom>
          <a:solidFill>
            <a:srgbClr val="688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558784" y="3429000"/>
            <a:ext cx="73152" cy="100584"/>
          </a:xfrm>
          <a:prstGeom prst="rect">
            <a:avLst/>
          </a:prstGeom>
          <a:solidFill>
            <a:srgbClr val="688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759952" y="3429000"/>
            <a:ext cx="73152" cy="100584"/>
          </a:xfrm>
          <a:prstGeom prst="rect">
            <a:avLst/>
          </a:prstGeom>
          <a:solidFill>
            <a:srgbClr val="688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558784" y="3794760"/>
            <a:ext cx="73152" cy="100584"/>
          </a:xfrm>
          <a:prstGeom prst="rect">
            <a:avLst/>
          </a:prstGeom>
          <a:solidFill>
            <a:srgbClr val="688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759952" y="3794760"/>
            <a:ext cx="73152" cy="100584"/>
          </a:xfrm>
          <a:prstGeom prst="rect">
            <a:avLst/>
          </a:prstGeom>
          <a:solidFill>
            <a:srgbClr val="688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558784" y="4160520"/>
            <a:ext cx="73152" cy="100584"/>
          </a:xfrm>
          <a:prstGeom prst="rect">
            <a:avLst/>
          </a:prstGeom>
          <a:solidFill>
            <a:srgbClr val="688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759952" y="4160520"/>
            <a:ext cx="73152" cy="100584"/>
          </a:xfrm>
          <a:prstGeom prst="rect">
            <a:avLst/>
          </a:prstGeom>
          <a:solidFill>
            <a:srgbClr val="688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558784" y="4526280"/>
            <a:ext cx="73152" cy="100584"/>
          </a:xfrm>
          <a:prstGeom prst="rect">
            <a:avLst/>
          </a:prstGeom>
          <a:solidFill>
            <a:srgbClr val="688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759952" y="4526280"/>
            <a:ext cx="73152" cy="100584"/>
          </a:xfrm>
          <a:prstGeom prst="rect">
            <a:avLst/>
          </a:prstGeom>
          <a:solidFill>
            <a:srgbClr val="688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98280" y="2240280"/>
            <a:ext cx="777240" cy="2697480"/>
          </a:xfrm>
          <a:prstGeom prst="rect">
            <a:avLst/>
          </a:prstGeom>
          <a:solidFill>
            <a:srgbClr val="E8EFF4"/>
          </a:solidFill>
          <a:ln w="8890">
            <a:solidFill>
              <a:srgbClr val="688B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244584" y="2560320"/>
            <a:ext cx="73152" cy="100584"/>
          </a:xfrm>
          <a:prstGeom prst="rect">
            <a:avLst/>
          </a:prstGeom>
          <a:solidFill>
            <a:srgbClr val="688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445752" y="2560320"/>
            <a:ext cx="73152" cy="100584"/>
          </a:xfrm>
          <a:prstGeom prst="rect">
            <a:avLst/>
          </a:prstGeom>
          <a:solidFill>
            <a:srgbClr val="688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628632" y="2560320"/>
            <a:ext cx="73152" cy="100584"/>
          </a:xfrm>
          <a:prstGeom prst="rect">
            <a:avLst/>
          </a:prstGeom>
          <a:solidFill>
            <a:srgbClr val="688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244584" y="2926080"/>
            <a:ext cx="73152" cy="100584"/>
          </a:xfrm>
          <a:prstGeom prst="rect">
            <a:avLst/>
          </a:prstGeom>
          <a:solidFill>
            <a:srgbClr val="688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445752" y="2926080"/>
            <a:ext cx="73152" cy="100584"/>
          </a:xfrm>
          <a:prstGeom prst="rect">
            <a:avLst/>
          </a:prstGeom>
          <a:solidFill>
            <a:srgbClr val="688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628632" y="2926080"/>
            <a:ext cx="73152" cy="100584"/>
          </a:xfrm>
          <a:prstGeom prst="rect">
            <a:avLst/>
          </a:prstGeom>
          <a:solidFill>
            <a:srgbClr val="688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244584" y="3291840"/>
            <a:ext cx="73152" cy="100584"/>
          </a:xfrm>
          <a:prstGeom prst="rect">
            <a:avLst/>
          </a:prstGeom>
          <a:solidFill>
            <a:srgbClr val="688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445752" y="3291840"/>
            <a:ext cx="73152" cy="100584"/>
          </a:xfrm>
          <a:prstGeom prst="rect">
            <a:avLst/>
          </a:prstGeom>
          <a:solidFill>
            <a:srgbClr val="688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628632" y="3291840"/>
            <a:ext cx="73152" cy="100584"/>
          </a:xfrm>
          <a:prstGeom prst="rect">
            <a:avLst/>
          </a:prstGeom>
          <a:solidFill>
            <a:srgbClr val="688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244584" y="3657600"/>
            <a:ext cx="73152" cy="100584"/>
          </a:xfrm>
          <a:prstGeom prst="rect">
            <a:avLst/>
          </a:prstGeom>
          <a:solidFill>
            <a:srgbClr val="688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445752" y="3657600"/>
            <a:ext cx="73152" cy="100584"/>
          </a:xfrm>
          <a:prstGeom prst="rect">
            <a:avLst/>
          </a:prstGeom>
          <a:solidFill>
            <a:srgbClr val="688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628632" y="3657600"/>
            <a:ext cx="73152" cy="100584"/>
          </a:xfrm>
          <a:prstGeom prst="rect">
            <a:avLst/>
          </a:prstGeom>
          <a:solidFill>
            <a:srgbClr val="688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244584" y="4023360"/>
            <a:ext cx="73152" cy="100584"/>
          </a:xfrm>
          <a:prstGeom prst="rect">
            <a:avLst/>
          </a:prstGeom>
          <a:solidFill>
            <a:srgbClr val="688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445752" y="4023360"/>
            <a:ext cx="73152" cy="100584"/>
          </a:xfrm>
          <a:prstGeom prst="rect">
            <a:avLst/>
          </a:prstGeom>
          <a:solidFill>
            <a:srgbClr val="688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628632" y="4023360"/>
            <a:ext cx="73152" cy="100584"/>
          </a:xfrm>
          <a:prstGeom prst="rect">
            <a:avLst/>
          </a:prstGeom>
          <a:solidFill>
            <a:srgbClr val="688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966960" y="3154680"/>
            <a:ext cx="566928" cy="1783080"/>
          </a:xfrm>
          <a:prstGeom prst="rect">
            <a:avLst/>
          </a:prstGeom>
          <a:solidFill>
            <a:srgbClr val="E8EFF4"/>
          </a:solidFill>
          <a:ln w="8890">
            <a:solidFill>
              <a:srgbClr val="688B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0113264" y="3474720"/>
            <a:ext cx="73152" cy="100584"/>
          </a:xfrm>
          <a:prstGeom prst="rect">
            <a:avLst/>
          </a:prstGeom>
          <a:solidFill>
            <a:srgbClr val="688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0314432" y="3474720"/>
            <a:ext cx="73152" cy="100584"/>
          </a:xfrm>
          <a:prstGeom prst="rect">
            <a:avLst/>
          </a:prstGeom>
          <a:solidFill>
            <a:srgbClr val="688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0113264" y="3840480"/>
            <a:ext cx="73152" cy="100584"/>
          </a:xfrm>
          <a:prstGeom prst="rect">
            <a:avLst/>
          </a:prstGeom>
          <a:solidFill>
            <a:srgbClr val="688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314432" y="3840480"/>
            <a:ext cx="73152" cy="100584"/>
          </a:xfrm>
          <a:prstGeom prst="rect">
            <a:avLst/>
          </a:prstGeom>
          <a:solidFill>
            <a:srgbClr val="688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0113264" y="4206240"/>
            <a:ext cx="73152" cy="100584"/>
          </a:xfrm>
          <a:prstGeom prst="rect">
            <a:avLst/>
          </a:prstGeom>
          <a:solidFill>
            <a:srgbClr val="688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0314432" y="4206240"/>
            <a:ext cx="73152" cy="100584"/>
          </a:xfrm>
          <a:prstGeom prst="rect">
            <a:avLst/>
          </a:prstGeom>
          <a:solidFill>
            <a:srgbClr val="688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0113264" y="4572000"/>
            <a:ext cx="73152" cy="100584"/>
          </a:xfrm>
          <a:prstGeom prst="rect">
            <a:avLst/>
          </a:prstGeom>
          <a:solidFill>
            <a:srgbClr val="688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0314432" y="4572000"/>
            <a:ext cx="73152" cy="100584"/>
          </a:xfrm>
          <a:prstGeom prst="rect">
            <a:avLst/>
          </a:prstGeom>
          <a:solidFill>
            <a:srgbClr val="688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0607040" y="2560320"/>
            <a:ext cx="658368" cy="2377440"/>
          </a:xfrm>
          <a:prstGeom prst="rect">
            <a:avLst/>
          </a:prstGeom>
          <a:solidFill>
            <a:srgbClr val="E8EFF4"/>
          </a:solidFill>
          <a:ln w="8890">
            <a:solidFill>
              <a:srgbClr val="688B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0753344" y="2880360"/>
            <a:ext cx="73152" cy="100584"/>
          </a:xfrm>
          <a:prstGeom prst="rect">
            <a:avLst/>
          </a:prstGeom>
          <a:solidFill>
            <a:srgbClr val="688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0954512" y="2880360"/>
            <a:ext cx="73152" cy="100584"/>
          </a:xfrm>
          <a:prstGeom prst="rect">
            <a:avLst/>
          </a:prstGeom>
          <a:solidFill>
            <a:srgbClr val="688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1137392" y="2880360"/>
            <a:ext cx="73152" cy="100584"/>
          </a:xfrm>
          <a:prstGeom prst="rect">
            <a:avLst/>
          </a:prstGeom>
          <a:solidFill>
            <a:srgbClr val="688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0753344" y="3246120"/>
            <a:ext cx="73152" cy="100584"/>
          </a:xfrm>
          <a:prstGeom prst="rect">
            <a:avLst/>
          </a:prstGeom>
          <a:solidFill>
            <a:srgbClr val="688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0954512" y="3246120"/>
            <a:ext cx="73152" cy="100584"/>
          </a:xfrm>
          <a:prstGeom prst="rect">
            <a:avLst/>
          </a:prstGeom>
          <a:solidFill>
            <a:srgbClr val="688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1137392" y="3246120"/>
            <a:ext cx="73152" cy="100584"/>
          </a:xfrm>
          <a:prstGeom prst="rect">
            <a:avLst/>
          </a:prstGeom>
          <a:solidFill>
            <a:srgbClr val="688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0753344" y="3611879"/>
            <a:ext cx="73152" cy="100584"/>
          </a:xfrm>
          <a:prstGeom prst="rect">
            <a:avLst/>
          </a:prstGeom>
          <a:solidFill>
            <a:srgbClr val="688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0954512" y="3611879"/>
            <a:ext cx="73152" cy="100584"/>
          </a:xfrm>
          <a:prstGeom prst="rect">
            <a:avLst/>
          </a:prstGeom>
          <a:solidFill>
            <a:srgbClr val="688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1137392" y="3611879"/>
            <a:ext cx="73152" cy="100584"/>
          </a:xfrm>
          <a:prstGeom prst="rect">
            <a:avLst/>
          </a:prstGeom>
          <a:solidFill>
            <a:srgbClr val="688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0753344" y="3977639"/>
            <a:ext cx="73152" cy="100584"/>
          </a:xfrm>
          <a:prstGeom prst="rect">
            <a:avLst/>
          </a:prstGeom>
          <a:solidFill>
            <a:srgbClr val="688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0954512" y="3977639"/>
            <a:ext cx="73152" cy="100584"/>
          </a:xfrm>
          <a:prstGeom prst="rect">
            <a:avLst/>
          </a:prstGeom>
          <a:solidFill>
            <a:srgbClr val="688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1137392" y="3977639"/>
            <a:ext cx="73152" cy="100584"/>
          </a:xfrm>
          <a:prstGeom prst="rect">
            <a:avLst/>
          </a:prstGeom>
          <a:solidFill>
            <a:srgbClr val="688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0753344" y="4343400"/>
            <a:ext cx="73152" cy="100584"/>
          </a:xfrm>
          <a:prstGeom prst="rect">
            <a:avLst/>
          </a:prstGeom>
          <a:solidFill>
            <a:srgbClr val="688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0954512" y="4343400"/>
            <a:ext cx="73152" cy="100584"/>
          </a:xfrm>
          <a:prstGeom prst="rect">
            <a:avLst/>
          </a:prstGeom>
          <a:solidFill>
            <a:srgbClr val="688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1137392" y="4343400"/>
            <a:ext cx="73152" cy="100584"/>
          </a:xfrm>
          <a:prstGeom prst="rect">
            <a:avLst/>
          </a:prstGeom>
          <a:solidFill>
            <a:srgbClr val="688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01168"/>
            <a:ext cx="7040880" cy="29260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Aft>
                <a:spcPts val="300"/>
              </a:spcAft>
              <a:defRPr sz="1200" b="1">
                <a:solidFill>
                  <a:srgbClr val="76828E"/>
                </a:solidFill>
                <a:latin typeface="Yu Gothic"/>
              </a:defRPr>
            </a:pPr>
            <a:r>
              <a:t>9歳前後の子どもと、日能研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03504"/>
            <a:ext cx="438912" cy="32004"/>
          </a:xfrm>
          <a:prstGeom prst="rect">
            <a:avLst/>
          </a:prstGeom>
          <a:solidFill>
            <a:srgbClr val="992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869680" y="201168"/>
            <a:ext cx="2194560" cy="2743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>
              <a:spcAft>
                <a:spcPts val="300"/>
              </a:spcAft>
              <a:defRPr sz="1000" b="1">
                <a:solidFill>
                  <a:srgbClr val="697F96"/>
                </a:solidFill>
                <a:latin typeface="Yu Gothic"/>
              </a:defRPr>
            </a:pPr>
            <a:r>
              <a:t>考え方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182880"/>
            <a:ext cx="438912" cy="2743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>
              <a:spcAft>
                <a:spcPts val="300"/>
              </a:spcAft>
              <a:defRPr sz="1000" b="0">
                <a:solidFill>
                  <a:srgbClr val="76828E"/>
                </a:solidFill>
                <a:latin typeface="Yu Gothic"/>
              </a:defRPr>
            </a:pPr>
            <a: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960120"/>
            <a:ext cx="10607040" cy="64008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Aft>
                <a:spcPts val="300"/>
              </a:spcAft>
              <a:defRPr sz="2900" b="1">
                <a:solidFill>
                  <a:srgbClr val="27313D"/>
                </a:solidFill>
                <a:latin typeface="Yu Gothic"/>
              </a:defRPr>
            </a:pPr>
            <a:r>
              <a:t>「やる気」のきっかけ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1618488"/>
            <a:ext cx="10332720" cy="41148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Aft>
                <a:spcPts val="300"/>
              </a:spcAft>
              <a:defRPr sz="1500" b="0">
                <a:solidFill>
                  <a:srgbClr val="76828E"/>
                </a:solidFill>
                <a:latin typeface="Yu Gothic"/>
              </a:defRPr>
            </a:pPr>
            <a:r>
              <a:t>この時期は、具体的で、目に見えることが行動につながります。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423160"/>
            <a:ext cx="4983480" cy="224028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2423160"/>
            <a:ext cx="4983480" cy="2240280"/>
          </a:xfrm>
          <a:prstGeom prst="rect">
            <a:avLst/>
          </a:prstGeom>
          <a:solidFill>
            <a:srgbClr val="F8F9FB"/>
          </a:solidFill>
          <a:ln w="12700">
            <a:solidFill>
              <a:srgbClr val="697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697480"/>
            <a:ext cx="4434840" cy="41148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Aft>
                <a:spcPts val="300"/>
              </a:spcAft>
              <a:defRPr sz="2300" b="1">
                <a:solidFill>
                  <a:srgbClr val="697F96"/>
                </a:solidFill>
                <a:latin typeface="Yu Gothic"/>
              </a:defRPr>
            </a:pPr>
            <a:r>
              <a:t>今の自分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291840"/>
            <a:ext cx="4343400" cy="8229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Aft>
                <a:spcPts val="300"/>
              </a:spcAft>
              <a:defRPr sz="1700" b="0">
                <a:solidFill>
                  <a:srgbClr val="27313D"/>
                </a:solidFill>
                <a:latin typeface="Yu Gothic"/>
              </a:defRPr>
            </a:pPr>
            <a:r>
              <a:t>具体的・視覚的</a:t>
            </a:r>
          </a:p>
          <a:p>
            <a:pPr algn="ctr">
              <a:spcAft>
                <a:spcPts val="300"/>
              </a:spcAft>
              <a:defRPr sz="1700" b="0">
                <a:solidFill>
                  <a:srgbClr val="27313D"/>
                </a:solidFill>
                <a:latin typeface="Yu Gothic"/>
              </a:defRPr>
            </a:pPr>
            <a:r>
              <a:t>「できた」「楽しい」「認められた」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697480"/>
            <a:ext cx="4434840" cy="41148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Aft>
                <a:spcPts val="300"/>
              </a:spcAft>
              <a:defRPr sz="2300" b="1">
                <a:solidFill>
                  <a:srgbClr val="27313D"/>
                </a:solidFill>
                <a:latin typeface="Yu Gothic"/>
              </a:defRPr>
            </a:pPr>
            <a:r>
              <a:t>未来の自分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291840"/>
            <a:ext cx="4343400" cy="8229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Aft>
                <a:spcPts val="300"/>
              </a:spcAft>
              <a:defRPr sz="1700" b="0">
                <a:solidFill>
                  <a:srgbClr val="27313D"/>
                </a:solidFill>
                <a:latin typeface="Yu Gothic"/>
              </a:defRPr>
            </a:pPr>
            <a:r>
              <a:t>抽象的</a:t>
            </a:r>
          </a:p>
          <a:p>
            <a:pPr algn="ctr">
              <a:spcAft>
                <a:spcPts val="300"/>
              </a:spcAft>
              <a:defRPr sz="1700" b="0">
                <a:solidFill>
                  <a:srgbClr val="27313D"/>
                </a:solidFill>
                <a:latin typeface="Yu Gothic"/>
              </a:defRPr>
            </a:pPr>
            <a:r>
              <a:t>「将来のために頑張ろう」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42432" y="3154680"/>
            <a:ext cx="548640" cy="5029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Aft>
                <a:spcPts val="300"/>
              </a:spcAft>
              <a:defRPr sz="2400" b="1">
                <a:solidFill>
                  <a:srgbClr val="992D23"/>
                </a:solidFill>
                <a:latin typeface="Yu Gothic"/>
              </a:defRPr>
            </a:pPr>
            <a:r>
              <a:t>&gt;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5257800"/>
            <a:ext cx="10241280" cy="5943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Aft>
                <a:spcPts val="300"/>
              </a:spcAft>
              <a:defRPr sz="1900" b="1">
                <a:solidFill>
                  <a:srgbClr val="992D23"/>
                </a:solidFill>
                <a:latin typeface="Yu Gothic"/>
              </a:defRPr>
            </a:pPr>
            <a:r>
              <a:t>まずは「今の自分」にプラスになる体験をつくる。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510528"/>
            <a:ext cx="3657600" cy="16459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Aft>
                <a:spcPts val="300"/>
              </a:spcAft>
              <a:defRPr sz="800" b="0">
                <a:solidFill>
                  <a:srgbClr val="76828E"/>
                </a:solidFill>
                <a:latin typeface="Yu Gothic"/>
              </a:defRPr>
            </a:pPr>
            <a:r>
              <a:t>日能研 御器所校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1045952" y="512064"/>
            <a:ext cx="182880" cy="0"/>
          </a:xfrm>
          <a:prstGeom prst="line">
            <a:avLst/>
          </a:prstGeom>
          <a:ln w="13970">
            <a:solidFill>
              <a:srgbClr val="9736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1137392" y="420624"/>
            <a:ext cx="0" cy="182880"/>
          </a:xfrm>
          <a:prstGeom prst="line">
            <a:avLst/>
          </a:prstGeom>
          <a:ln w="13970">
            <a:solidFill>
              <a:srgbClr val="9736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1087100" y="461772"/>
            <a:ext cx="100584" cy="100584"/>
          </a:xfrm>
          <a:prstGeom prst="line">
            <a:avLst/>
          </a:prstGeom>
          <a:ln w="10160">
            <a:solidFill>
              <a:srgbClr val="9736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1087100" y="461772"/>
            <a:ext cx="100584" cy="100584"/>
          </a:xfrm>
          <a:prstGeom prst="line">
            <a:avLst/>
          </a:prstGeom>
          <a:ln w="10160">
            <a:solidFill>
              <a:srgbClr val="9736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772400" y="5394960"/>
            <a:ext cx="3566160" cy="0"/>
          </a:xfrm>
          <a:prstGeom prst="line">
            <a:avLst/>
          </a:prstGeom>
          <a:ln w="12700">
            <a:solidFill>
              <a:srgbClr val="AAB7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8366760" y="4114800"/>
            <a:ext cx="1097280" cy="1097280"/>
          </a:xfrm>
          <a:prstGeom prst="ellipse">
            <a:avLst/>
          </a:prstGeom>
          <a:noFill/>
          <a:ln w="15240">
            <a:solidFill>
              <a:srgbClr val="688B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849002" y="4434840"/>
            <a:ext cx="208483" cy="208483"/>
          </a:xfrm>
          <a:prstGeom prst="ellipse">
            <a:avLst/>
          </a:prstGeom>
          <a:solidFill>
            <a:srgbClr val="9736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rapezoid 24"/>
          <p:cNvSpPr/>
          <p:nvPr/>
        </p:nvSpPr>
        <p:spPr>
          <a:xfrm>
            <a:off x="9805568" y="4625949"/>
            <a:ext cx="295351" cy="451713"/>
          </a:xfrm>
          <a:prstGeom prst="trapezoid">
            <a:avLst/>
          </a:prstGeom>
          <a:solidFill>
            <a:srgbClr val="9736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 flipH="1">
            <a:off x="9805568" y="5025542"/>
            <a:ext cx="78181" cy="277978"/>
          </a:xfrm>
          <a:prstGeom prst="line">
            <a:avLst/>
          </a:prstGeom>
          <a:ln w="36194">
            <a:solidFill>
              <a:srgbClr val="9736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0014051" y="5025542"/>
            <a:ext cx="86868" cy="277978"/>
          </a:xfrm>
          <a:prstGeom prst="line">
            <a:avLst/>
          </a:prstGeom>
          <a:ln w="36194">
            <a:solidFill>
              <a:srgbClr val="9736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744200" y="4069080"/>
            <a:ext cx="274320" cy="0"/>
          </a:xfrm>
          <a:prstGeom prst="line">
            <a:avLst/>
          </a:prstGeom>
          <a:ln w="13970">
            <a:solidFill>
              <a:srgbClr val="688B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881360" y="3931920"/>
            <a:ext cx="0" cy="274320"/>
          </a:xfrm>
          <a:prstGeom prst="line">
            <a:avLst/>
          </a:prstGeom>
          <a:ln w="13970">
            <a:solidFill>
              <a:srgbClr val="688B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0805922" y="3993642"/>
            <a:ext cx="150876" cy="150876"/>
          </a:xfrm>
          <a:prstGeom prst="line">
            <a:avLst/>
          </a:prstGeom>
          <a:ln w="10160">
            <a:solidFill>
              <a:srgbClr val="688B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10805922" y="3993642"/>
            <a:ext cx="150876" cy="150876"/>
          </a:xfrm>
          <a:prstGeom prst="line">
            <a:avLst/>
          </a:prstGeom>
          <a:ln w="10160">
            <a:solidFill>
              <a:srgbClr val="688B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01168"/>
            <a:ext cx="7040880" cy="29260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Aft>
                <a:spcPts val="300"/>
              </a:spcAft>
              <a:defRPr sz="1200" b="1">
                <a:solidFill>
                  <a:srgbClr val="76828E"/>
                </a:solidFill>
                <a:latin typeface="Yu Gothic"/>
              </a:defRPr>
            </a:pPr>
            <a:r>
              <a:t>9歳前後の子どもと、日能研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03504"/>
            <a:ext cx="438912" cy="32004"/>
          </a:xfrm>
          <a:prstGeom prst="rect">
            <a:avLst/>
          </a:prstGeom>
          <a:solidFill>
            <a:srgbClr val="992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869680" y="201168"/>
            <a:ext cx="2194560" cy="2743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>
              <a:spcAft>
                <a:spcPts val="300"/>
              </a:spcAft>
              <a:defRPr sz="1000" b="1">
                <a:solidFill>
                  <a:srgbClr val="697F96"/>
                </a:solidFill>
                <a:latin typeface="Yu Gothic"/>
              </a:defRPr>
            </a:pPr>
            <a:r>
              <a:t>授業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182880"/>
            <a:ext cx="438912" cy="2743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>
              <a:spcAft>
                <a:spcPts val="300"/>
              </a:spcAft>
              <a:defRPr sz="1000" b="0">
                <a:solidFill>
                  <a:srgbClr val="76828E"/>
                </a:solidFill>
                <a:latin typeface="Yu Gothic"/>
              </a:defRPr>
            </a:pPr>
            <a: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10607040" cy="5943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Aft>
                <a:spcPts val="300"/>
              </a:spcAft>
              <a:defRPr sz="3100" b="1">
                <a:solidFill>
                  <a:srgbClr val="27313D"/>
                </a:solidFill>
                <a:latin typeface="Yu Gothic"/>
              </a:defRPr>
            </a:pPr>
            <a:r>
              <a:t>授業</a:t>
            </a:r>
          </a:p>
        </p:txBody>
      </p:sp>
      <p:pic>
        <p:nvPicPr>
          <p:cNvPr id="8" name="Picture 7" descr="_photo_IMG_6896(1)_0.8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691640"/>
            <a:ext cx="10607040" cy="4160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7240" y="1691640"/>
            <a:ext cx="1060704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697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51560" y="4800600"/>
            <a:ext cx="7955279" cy="86868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4901184"/>
            <a:ext cx="7498079" cy="64008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Aft>
                <a:spcPts val="300"/>
              </a:spcAft>
              <a:defRPr sz="1600" b="1">
                <a:solidFill>
                  <a:srgbClr val="27313D"/>
                </a:solidFill>
                <a:latin typeface="Yu Gothic"/>
              </a:defRPr>
            </a:pPr>
            <a:r>
              <a:t>子どもたちは、授業の中で考え、発見し、言葉にしていきます。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510528"/>
            <a:ext cx="3657600" cy="16459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Aft>
                <a:spcPts val="300"/>
              </a:spcAft>
              <a:defRPr sz="800" b="0">
                <a:solidFill>
                  <a:srgbClr val="76828E"/>
                </a:solidFill>
                <a:latin typeface="Yu Gothic"/>
              </a:defRPr>
            </a:pPr>
            <a:r>
              <a:t>日能研 御器所校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1045952" y="512064"/>
            <a:ext cx="182880" cy="0"/>
          </a:xfrm>
          <a:prstGeom prst="line">
            <a:avLst/>
          </a:prstGeom>
          <a:ln w="13970">
            <a:solidFill>
              <a:srgbClr val="688B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1137392" y="420624"/>
            <a:ext cx="0" cy="182880"/>
          </a:xfrm>
          <a:prstGeom prst="line">
            <a:avLst/>
          </a:prstGeom>
          <a:ln w="13970">
            <a:solidFill>
              <a:srgbClr val="688B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1087100" y="461772"/>
            <a:ext cx="100584" cy="100584"/>
          </a:xfrm>
          <a:prstGeom prst="line">
            <a:avLst/>
          </a:prstGeom>
          <a:ln w="10160">
            <a:solidFill>
              <a:srgbClr val="688B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1087100" y="461772"/>
            <a:ext cx="100584" cy="100584"/>
          </a:xfrm>
          <a:prstGeom prst="line">
            <a:avLst/>
          </a:prstGeom>
          <a:ln w="10160">
            <a:solidFill>
              <a:srgbClr val="688B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10287000" y="4709160"/>
            <a:ext cx="502920" cy="658368"/>
          </a:xfrm>
          <a:prstGeom prst="rect">
            <a:avLst/>
          </a:prstGeom>
          <a:solidFill>
            <a:srgbClr val="FFFFFF"/>
          </a:solidFill>
          <a:ln w="17780">
            <a:solidFill>
              <a:srgbClr val="9736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10538460" y="4736592"/>
            <a:ext cx="0" cy="603504"/>
          </a:xfrm>
          <a:prstGeom prst="line">
            <a:avLst/>
          </a:prstGeom>
          <a:ln w="12700">
            <a:solidFill>
              <a:srgbClr val="9736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360152" y="4855464"/>
            <a:ext cx="117957" cy="0"/>
          </a:xfrm>
          <a:prstGeom prst="line">
            <a:avLst/>
          </a:prstGeom>
          <a:ln w="8890">
            <a:solidFill>
              <a:srgbClr val="AAB7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578693" y="4855464"/>
            <a:ext cx="160935" cy="0"/>
          </a:xfrm>
          <a:prstGeom prst="line">
            <a:avLst/>
          </a:prstGeom>
          <a:ln w="8890">
            <a:solidFill>
              <a:srgbClr val="AAB7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01168"/>
            <a:ext cx="7040880" cy="29260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Aft>
                <a:spcPts val="300"/>
              </a:spcAft>
              <a:defRPr sz="1200" b="1">
                <a:solidFill>
                  <a:srgbClr val="76828E"/>
                </a:solidFill>
                <a:latin typeface="Yu Gothic"/>
              </a:defRPr>
            </a:pPr>
            <a:r>
              <a:t>9歳前後の子どもと、日能研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03504"/>
            <a:ext cx="438912" cy="32004"/>
          </a:xfrm>
          <a:prstGeom prst="rect">
            <a:avLst/>
          </a:prstGeom>
          <a:solidFill>
            <a:srgbClr val="992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869680" y="201168"/>
            <a:ext cx="2194560" cy="2743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>
              <a:spcAft>
                <a:spcPts val="300"/>
              </a:spcAft>
              <a:defRPr sz="1000" b="1">
                <a:solidFill>
                  <a:srgbClr val="697F96"/>
                </a:solidFill>
                <a:latin typeface="Yu Gothic"/>
              </a:defRPr>
            </a:pPr>
            <a:r>
              <a:t>本科テキスト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182880"/>
            <a:ext cx="438912" cy="2743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>
              <a:spcAft>
                <a:spcPts val="300"/>
              </a:spcAft>
              <a:defRPr sz="1000" b="0">
                <a:solidFill>
                  <a:srgbClr val="76828E"/>
                </a:solidFill>
                <a:latin typeface="Yu Gothic"/>
              </a:defRPr>
            </a:pPr>
            <a: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10607040" cy="5943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Aft>
                <a:spcPts val="300"/>
              </a:spcAft>
              <a:defRPr sz="2900" b="1">
                <a:solidFill>
                  <a:srgbClr val="27313D"/>
                </a:solidFill>
                <a:latin typeface="Yu Gothic"/>
              </a:defRPr>
            </a:pPr>
            <a:r>
              <a:t>本科テキスト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1508760"/>
            <a:ext cx="10424160" cy="38404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Aft>
                <a:spcPts val="300"/>
              </a:spcAft>
              <a:defRPr sz="1500" b="0">
                <a:solidFill>
                  <a:srgbClr val="76828E"/>
                </a:solidFill>
                <a:latin typeface="Yu Gothic"/>
              </a:defRPr>
            </a:pPr>
            <a:r>
              <a:t>教材にも、子どもが考えたくなる「きっかけ」があります。</a:t>
            </a:r>
          </a:p>
        </p:txBody>
      </p:sp>
      <p:pic>
        <p:nvPicPr>
          <p:cNvPr id="9" name="Picture 8" descr="_photo_IMG_6897(1)_0.8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103120"/>
            <a:ext cx="6492240" cy="352044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635240" y="2103120"/>
            <a:ext cx="361188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697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2423160"/>
            <a:ext cx="3063240" cy="5029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Aft>
                <a:spcPts val="300"/>
              </a:spcAft>
              <a:defRPr sz="2000" b="1">
                <a:solidFill>
                  <a:srgbClr val="992D23"/>
                </a:solidFill>
                <a:latin typeface="Yu Gothic"/>
              </a:defRPr>
            </a:pPr>
            <a:r>
              <a:t>オリジナル教材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9560" y="3063240"/>
            <a:ext cx="2971800" cy="15087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Aft>
                <a:spcPts val="300"/>
              </a:spcAft>
              <a:defRPr sz="1500" b="0">
                <a:solidFill>
                  <a:srgbClr val="27313D"/>
                </a:solidFill>
                <a:latin typeface="Yu Gothic"/>
              </a:defRPr>
            </a:pPr>
            <a:r>
              <a:t>物語や図版を入口に、問いを読み取り、自分で考える力を育てます。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510528"/>
            <a:ext cx="3657600" cy="16459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Aft>
                <a:spcPts val="300"/>
              </a:spcAft>
              <a:defRPr sz="800" b="0">
                <a:solidFill>
                  <a:srgbClr val="76828E"/>
                </a:solidFill>
                <a:latin typeface="Yu Gothic"/>
              </a:defRPr>
            </a:pPr>
            <a:r>
              <a:t>日能研 御器所校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1045952" y="512064"/>
            <a:ext cx="182880" cy="0"/>
          </a:xfrm>
          <a:prstGeom prst="line">
            <a:avLst/>
          </a:prstGeom>
          <a:ln w="13970">
            <a:solidFill>
              <a:srgbClr val="9736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1137392" y="420624"/>
            <a:ext cx="0" cy="182880"/>
          </a:xfrm>
          <a:prstGeom prst="line">
            <a:avLst/>
          </a:prstGeom>
          <a:ln w="13970">
            <a:solidFill>
              <a:srgbClr val="9736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087100" y="461772"/>
            <a:ext cx="100584" cy="100584"/>
          </a:xfrm>
          <a:prstGeom prst="line">
            <a:avLst/>
          </a:prstGeom>
          <a:ln w="10160">
            <a:solidFill>
              <a:srgbClr val="9736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1087100" y="461772"/>
            <a:ext cx="100584" cy="100584"/>
          </a:xfrm>
          <a:prstGeom prst="line">
            <a:avLst/>
          </a:prstGeom>
          <a:ln w="10160">
            <a:solidFill>
              <a:srgbClr val="9736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10364724" y="4572000"/>
            <a:ext cx="164592" cy="164592"/>
          </a:xfrm>
          <a:prstGeom prst="ellipse">
            <a:avLst/>
          </a:prstGeom>
          <a:solidFill>
            <a:srgbClr val="688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rapezoid 18"/>
          <p:cNvSpPr/>
          <p:nvPr/>
        </p:nvSpPr>
        <p:spPr>
          <a:xfrm>
            <a:off x="10330434" y="4722876"/>
            <a:ext cx="233172" cy="356616"/>
          </a:xfrm>
          <a:prstGeom prst="trapezoid">
            <a:avLst/>
          </a:prstGeom>
          <a:solidFill>
            <a:srgbClr val="688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 flipH="1">
            <a:off x="10330434" y="5038344"/>
            <a:ext cx="61721" cy="219456"/>
          </a:xfrm>
          <a:prstGeom prst="line">
            <a:avLst/>
          </a:prstGeom>
          <a:ln w="28575">
            <a:solidFill>
              <a:srgbClr val="688B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495026" y="5038344"/>
            <a:ext cx="68579" cy="219456"/>
          </a:xfrm>
          <a:prstGeom prst="line">
            <a:avLst/>
          </a:prstGeom>
          <a:ln w="28575">
            <a:solidFill>
              <a:srgbClr val="688B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835640" y="4572000"/>
            <a:ext cx="182879" cy="0"/>
          </a:xfrm>
          <a:prstGeom prst="line">
            <a:avLst/>
          </a:prstGeom>
          <a:ln w="13970">
            <a:solidFill>
              <a:srgbClr val="9736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927080" y="4480560"/>
            <a:ext cx="0" cy="182880"/>
          </a:xfrm>
          <a:prstGeom prst="line">
            <a:avLst/>
          </a:prstGeom>
          <a:ln w="13970">
            <a:solidFill>
              <a:srgbClr val="9736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0876788" y="4521708"/>
            <a:ext cx="100584" cy="100584"/>
          </a:xfrm>
          <a:prstGeom prst="line">
            <a:avLst/>
          </a:prstGeom>
          <a:ln w="10160">
            <a:solidFill>
              <a:srgbClr val="9736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10876788" y="4521708"/>
            <a:ext cx="100584" cy="100584"/>
          </a:xfrm>
          <a:prstGeom prst="line">
            <a:avLst/>
          </a:prstGeom>
          <a:ln w="10160">
            <a:solidFill>
              <a:srgbClr val="9736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01168"/>
            <a:ext cx="7040880" cy="29260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Aft>
                <a:spcPts val="300"/>
              </a:spcAft>
              <a:defRPr sz="1200" b="1">
                <a:solidFill>
                  <a:srgbClr val="76828E"/>
                </a:solidFill>
                <a:latin typeface="Yu Gothic"/>
              </a:defRPr>
            </a:pPr>
            <a:r>
              <a:t>9歳前後の子どもと、日能研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03504"/>
            <a:ext cx="438912" cy="32004"/>
          </a:xfrm>
          <a:prstGeom prst="rect">
            <a:avLst/>
          </a:prstGeom>
          <a:solidFill>
            <a:srgbClr val="992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869680" y="201168"/>
            <a:ext cx="2194560" cy="2743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>
              <a:spcAft>
                <a:spcPts val="300"/>
              </a:spcAft>
              <a:defRPr sz="1000" b="1">
                <a:solidFill>
                  <a:srgbClr val="697F96"/>
                </a:solidFill>
                <a:latin typeface="Yu Gothic"/>
              </a:defRPr>
            </a:pPr>
            <a:r>
              <a:t>家庭学習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182880"/>
            <a:ext cx="438912" cy="2743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>
              <a:spcAft>
                <a:spcPts val="300"/>
              </a:spcAft>
              <a:defRPr sz="1000" b="0">
                <a:solidFill>
                  <a:srgbClr val="76828E"/>
                </a:solidFill>
                <a:latin typeface="Yu Gothic"/>
              </a:defRPr>
            </a:pPr>
            <a: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10607040" cy="5943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Aft>
                <a:spcPts val="300"/>
              </a:spcAft>
              <a:defRPr sz="2900" b="1">
                <a:solidFill>
                  <a:srgbClr val="27313D"/>
                </a:solidFill>
                <a:latin typeface="Yu Gothic"/>
              </a:defRPr>
            </a:pPr>
            <a:r>
              <a:t>栄冠への道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1536192"/>
            <a:ext cx="10424160" cy="38404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Aft>
                <a:spcPts val="300"/>
              </a:spcAft>
              <a:defRPr sz="1500" b="0">
                <a:solidFill>
                  <a:srgbClr val="76828E"/>
                </a:solidFill>
                <a:latin typeface="Yu Gothic"/>
              </a:defRPr>
            </a:pPr>
            <a:r>
              <a:t>授業で理解したことを、自分で学び直すための道しるべ。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331720"/>
            <a:ext cx="324612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697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78608"/>
            <a:ext cx="2788920" cy="34747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Aft>
                <a:spcPts val="300"/>
              </a:spcAft>
              <a:defRPr sz="1200" b="1">
                <a:solidFill>
                  <a:srgbClr val="992D23"/>
                </a:solidFill>
                <a:latin typeface="Yu Gothic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63240"/>
            <a:ext cx="2788920" cy="5029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Aft>
                <a:spcPts val="300"/>
              </a:spcAft>
              <a:defRPr sz="1800" b="1">
                <a:solidFill>
                  <a:srgbClr val="27313D"/>
                </a:solidFill>
                <a:latin typeface="Yu Gothic"/>
              </a:defRPr>
            </a:pPr>
            <a:r>
              <a:t>考え方を整理する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3703320"/>
            <a:ext cx="2560320" cy="2286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886200"/>
            <a:ext cx="2788920" cy="5943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Aft>
                <a:spcPts val="300"/>
              </a:spcAft>
              <a:defRPr sz="1400" b="0">
                <a:solidFill>
                  <a:srgbClr val="76828E"/>
                </a:solidFill>
                <a:latin typeface="Yu Gothic"/>
              </a:defRPr>
            </a:pPr>
            <a:r>
              <a:t>授業で学んだことを振り返る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34840" y="2331720"/>
            <a:ext cx="324612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697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2578608"/>
            <a:ext cx="2788920" cy="34747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Aft>
                <a:spcPts val="300"/>
              </a:spcAft>
              <a:defRPr sz="1200" b="1">
                <a:solidFill>
                  <a:srgbClr val="992D23"/>
                </a:solidFill>
                <a:latin typeface="Yu Gothic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3063240"/>
            <a:ext cx="2788920" cy="5029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Aft>
                <a:spcPts val="300"/>
              </a:spcAft>
              <a:defRPr sz="1800" b="1">
                <a:solidFill>
                  <a:srgbClr val="27313D"/>
                </a:solidFill>
                <a:latin typeface="Yu Gothic"/>
              </a:defRPr>
            </a:pPr>
            <a:r>
              <a:t>自分で解いてみる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63440" y="3703320"/>
            <a:ext cx="2560320" cy="2286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3440" y="3886200"/>
            <a:ext cx="2788920" cy="5943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Aft>
                <a:spcPts val="300"/>
              </a:spcAft>
              <a:defRPr sz="1400" b="0">
                <a:solidFill>
                  <a:srgbClr val="76828E"/>
                </a:solidFill>
                <a:latin typeface="Yu Gothic"/>
              </a:defRPr>
            </a:pPr>
            <a:r>
              <a:t>理解した内容を使ってみる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92440" y="2331720"/>
            <a:ext cx="324612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697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2578608"/>
            <a:ext cx="2788920" cy="34747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Aft>
                <a:spcPts val="300"/>
              </a:spcAft>
              <a:defRPr sz="1200" b="1">
                <a:solidFill>
                  <a:srgbClr val="992D23"/>
                </a:solidFill>
                <a:latin typeface="Yu Gothic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3063240"/>
            <a:ext cx="2788920" cy="5029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Aft>
                <a:spcPts val="300"/>
              </a:spcAft>
              <a:defRPr sz="1800" b="1">
                <a:solidFill>
                  <a:srgbClr val="27313D"/>
                </a:solidFill>
                <a:latin typeface="Yu Gothic"/>
              </a:defRPr>
            </a:pPr>
            <a:r>
              <a:t>次の学びにつなげる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21040" y="3703320"/>
            <a:ext cx="2560320" cy="2286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3886200"/>
            <a:ext cx="2788920" cy="5943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Aft>
                <a:spcPts val="300"/>
              </a:spcAft>
              <a:defRPr sz="1400" b="0">
                <a:solidFill>
                  <a:srgbClr val="76828E"/>
                </a:solidFill>
                <a:latin typeface="Yu Gothic"/>
              </a:defRPr>
            </a:pPr>
            <a:r>
              <a:t>できたことと課題を確認する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349240"/>
            <a:ext cx="10332720" cy="5029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Aft>
                <a:spcPts val="300"/>
              </a:spcAft>
              <a:defRPr sz="2000" b="1">
                <a:solidFill>
                  <a:srgbClr val="992D23"/>
                </a:solidFill>
                <a:latin typeface="Yu Gothic"/>
              </a:defRPr>
            </a:pPr>
            <a:r>
              <a:t>「わかった」を「自分でできる」へ。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510528"/>
            <a:ext cx="3657600" cy="16459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Aft>
                <a:spcPts val="300"/>
              </a:spcAft>
              <a:defRPr sz="800" b="0">
                <a:solidFill>
                  <a:srgbClr val="76828E"/>
                </a:solidFill>
                <a:latin typeface="Yu Gothic"/>
              </a:defRPr>
            </a:pPr>
            <a:r>
              <a:t>日能研 御器所校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1045952" y="512064"/>
            <a:ext cx="182880" cy="0"/>
          </a:xfrm>
          <a:prstGeom prst="line">
            <a:avLst/>
          </a:prstGeom>
          <a:ln w="13970">
            <a:solidFill>
              <a:srgbClr val="688B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1137392" y="420624"/>
            <a:ext cx="0" cy="182880"/>
          </a:xfrm>
          <a:prstGeom prst="line">
            <a:avLst/>
          </a:prstGeom>
          <a:ln w="13970">
            <a:solidFill>
              <a:srgbClr val="688B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1087100" y="461772"/>
            <a:ext cx="100584" cy="100584"/>
          </a:xfrm>
          <a:prstGeom prst="line">
            <a:avLst/>
          </a:prstGeom>
          <a:ln w="10160">
            <a:solidFill>
              <a:srgbClr val="688B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11087100" y="461772"/>
            <a:ext cx="100584" cy="100584"/>
          </a:xfrm>
          <a:prstGeom prst="line">
            <a:avLst/>
          </a:prstGeom>
          <a:ln w="10160">
            <a:solidFill>
              <a:srgbClr val="688B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10332720" y="4800600"/>
            <a:ext cx="594360" cy="749808"/>
          </a:xfrm>
          <a:prstGeom prst="rect">
            <a:avLst/>
          </a:prstGeom>
          <a:solidFill>
            <a:srgbClr val="FFFFFF"/>
          </a:solidFill>
          <a:ln w="17780">
            <a:solidFill>
              <a:srgbClr val="688B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10629900" y="4828032"/>
            <a:ext cx="0" cy="694944"/>
          </a:xfrm>
          <a:prstGeom prst="line">
            <a:avLst/>
          </a:prstGeom>
          <a:ln w="12700">
            <a:solidFill>
              <a:srgbClr val="688B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0405872" y="4946904"/>
            <a:ext cx="152704" cy="0"/>
          </a:xfrm>
          <a:prstGeom prst="line">
            <a:avLst/>
          </a:prstGeom>
          <a:ln w="8890">
            <a:solidFill>
              <a:srgbClr val="AAB7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0677448" y="4946904"/>
            <a:ext cx="190196" cy="0"/>
          </a:xfrm>
          <a:prstGeom prst="line">
            <a:avLst/>
          </a:prstGeom>
          <a:ln w="8890">
            <a:solidFill>
              <a:srgbClr val="AAB7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9710928" y="4709160"/>
            <a:ext cx="237744" cy="0"/>
          </a:xfrm>
          <a:prstGeom prst="line">
            <a:avLst/>
          </a:prstGeom>
          <a:ln w="13970">
            <a:solidFill>
              <a:srgbClr val="9736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829800" y="4590288"/>
            <a:ext cx="0" cy="237744"/>
          </a:xfrm>
          <a:prstGeom prst="line">
            <a:avLst/>
          </a:prstGeom>
          <a:ln w="13970">
            <a:solidFill>
              <a:srgbClr val="9736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9764420" y="4643780"/>
            <a:ext cx="130759" cy="130759"/>
          </a:xfrm>
          <a:prstGeom prst="line">
            <a:avLst/>
          </a:prstGeom>
          <a:ln w="10160">
            <a:solidFill>
              <a:srgbClr val="9736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9764420" y="4643780"/>
            <a:ext cx="130759" cy="130759"/>
          </a:xfrm>
          <a:prstGeom prst="line">
            <a:avLst/>
          </a:prstGeom>
          <a:ln w="10160">
            <a:solidFill>
              <a:srgbClr val="9736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01168"/>
            <a:ext cx="7040880" cy="29260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Aft>
                <a:spcPts val="300"/>
              </a:spcAft>
              <a:defRPr sz="1200" b="1">
                <a:solidFill>
                  <a:srgbClr val="76828E"/>
                </a:solidFill>
                <a:latin typeface="Yu Gothic"/>
              </a:defRPr>
            </a:pPr>
            <a:r>
              <a:t>9歳前後の子どもと、日能研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03504"/>
            <a:ext cx="438912" cy="32004"/>
          </a:xfrm>
          <a:prstGeom prst="rect">
            <a:avLst/>
          </a:prstGeom>
          <a:solidFill>
            <a:srgbClr val="992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869680" y="201168"/>
            <a:ext cx="2194560" cy="2743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>
              <a:spcAft>
                <a:spcPts val="300"/>
              </a:spcAft>
              <a:defRPr sz="1000" b="1">
                <a:solidFill>
                  <a:srgbClr val="697F96"/>
                </a:solidFill>
                <a:latin typeface="Yu Gothic"/>
              </a:defRPr>
            </a:pPr>
            <a:r>
              <a:t>学習習慣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182880"/>
            <a:ext cx="438912" cy="2743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>
              <a:spcAft>
                <a:spcPts val="300"/>
              </a:spcAft>
              <a:defRPr sz="1000" b="0">
                <a:solidFill>
                  <a:srgbClr val="76828E"/>
                </a:solidFill>
                <a:latin typeface="Yu Gothic"/>
              </a:defRPr>
            </a:pPr>
            <a: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10607040" cy="5943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Aft>
                <a:spcPts val="300"/>
              </a:spcAft>
              <a:defRPr sz="2500" b="1">
                <a:solidFill>
                  <a:srgbClr val="27313D"/>
                </a:solidFill>
                <a:latin typeface="Yu Gothic"/>
              </a:defRPr>
            </a:pPr>
            <a:r>
              <a:t>小学4年生の、一般的なスケジュール例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1828800"/>
            <a:ext cx="1408176" cy="438912"/>
          </a:xfrm>
          <a:prstGeom prst="rect">
            <a:avLst/>
          </a:prstGeom>
          <a:solidFill>
            <a:srgbClr val="697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847088"/>
            <a:ext cx="1408176" cy="38404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Aft>
                <a:spcPts val="300"/>
              </a:spcAft>
              <a:defRPr sz="1200" b="1">
                <a:solidFill>
                  <a:srgbClr val="FFFFFF"/>
                </a:solidFill>
                <a:latin typeface="Yu Gothic"/>
              </a:defRPr>
            </a:pPr>
            <a:r>
              <a:t>月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42032" y="1828800"/>
            <a:ext cx="1408176" cy="438912"/>
          </a:xfrm>
          <a:prstGeom prst="rect">
            <a:avLst/>
          </a:prstGeom>
          <a:solidFill>
            <a:srgbClr val="697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42032" y="1847088"/>
            <a:ext cx="1408176" cy="38404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Aft>
                <a:spcPts val="300"/>
              </a:spcAft>
              <a:defRPr sz="1200" b="1">
                <a:solidFill>
                  <a:srgbClr val="FFFFFF"/>
                </a:solidFill>
                <a:latin typeface="Yu Gothic"/>
              </a:defRPr>
            </a:pPr>
            <a:r>
              <a:t>火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86784" y="1828800"/>
            <a:ext cx="1408176" cy="438912"/>
          </a:xfrm>
          <a:prstGeom prst="rect">
            <a:avLst/>
          </a:prstGeom>
          <a:solidFill>
            <a:srgbClr val="697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86784" y="1847088"/>
            <a:ext cx="1408176" cy="38404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Aft>
                <a:spcPts val="300"/>
              </a:spcAft>
              <a:defRPr sz="1200" b="1">
                <a:solidFill>
                  <a:srgbClr val="FFFFFF"/>
                </a:solidFill>
                <a:latin typeface="Yu Gothic"/>
              </a:defRPr>
            </a:pPr>
            <a:r>
              <a:t>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31536" y="1828800"/>
            <a:ext cx="1408176" cy="438912"/>
          </a:xfrm>
          <a:prstGeom prst="rect">
            <a:avLst/>
          </a:prstGeom>
          <a:solidFill>
            <a:srgbClr val="697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31536" y="1847088"/>
            <a:ext cx="1408176" cy="38404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Aft>
                <a:spcPts val="300"/>
              </a:spcAft>
              <a:defRPr sz="1200" b="1">
                <a:solidFill>
                  <a:srgbClr val="FFFFFF"/>
                </a:solidFill>
                <a:latin typeface="Yu Gothic"/>
              </a:defRPr>
            </a:pPr>
            <a:r>
              <a:t>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76288" y="1828800"/>
            <a:ext cx="1408176" cy="438912"/>
          </a:xfrm>
          <a:prstGeom prst="rect">
            <a:avLst/>
          </a:prstGeom>
          <a:solidFill>
            <a:srgbClr val="697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76288" y="1847088"/>
            <a:ext cx="1408176" cy="38404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Aft>
                <a:spcPts val="300"/>
              </a:spcAft>
              <a:defRPr sz="1200" b="1">
                <a:solidFill>
                  <a:srgbClr val="FFFFFF"/>
                </a:solidFill>
                <a:latin typeface="Yu Gothic"/>
              </a:defRPr>
            </a:pPr>
            <a:r>
              <a:t>金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21040" y="1828800"/>
            <a:ext cx="1408176" cy="438912"/>
          </a:xfrm>
          <a:prstGeom prst="rect">
            <a:avLst/>
          </a:prstGeom>
          <a:solidFill>
            <a:srgbClr val="697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1847088"/>
            <a:ext cx="1408176" cy="38404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Aft>
                <a:spcPts val="300"/>
              </a:spcAft>
              <a:defRPr sz="1200" b="1">
                <a:solidFill>
                  <a:srgbClr val="FFFFFF"/>
                </a:solidFill>
                <a:latin typeface="Yu Gothic"/>
              </a:defRPr>
            </a:pPr>
            <a:r>
              <a:t>土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65792" y="1828800"/>
            <a:ext cx="1408176" cy="438912"/>
          </a:xfrm>
          <a:prstGeom prst="rect">
            <a:avLst/>
          </a:prstGeom>
          <a:solidFill>
            <a:srgbClr val="697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65792" y="1847088"/>
            <a:ext cx="1408176" cy="38404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Aft>
                <a:spcPts val="300"/>
              </a:spcAft>
              <a:defRPr sz="1200" b="1">
                <a:solidFill>
                  <a:srgbClr val="FFFFFF"/>
                </a:solidFill>
                <a:latin typeface="Yu Gothic"/>
              </a:defRPr>
            </a:pPr>
            <a:r>
              <a:t>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" y="2450592"/>
            <a:ext cx="658368" cy="54864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Aft>
                <a:spcPts val="300"/>
              </a:spcAft>
              <a:defRPr sz="1000" b="1">
                <a:solidFill>
                  <a:srgbClr val="76828E"/>
                </a:solidFill>
                <a:latin typeface="Yu Gothic"/>
              </a:defRPr>
            </a:pPr>
            <a:r>
              <a:t>学校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97280" y="2359152"/>
            <a:ext cx="1408176" cy="841248"/>
          </a:xfrm>
          <a:prstGeom prst="rect">
            <a:avLst/>
          </a:prstGeom>
          <a:solidFill>
            <a:srgbClr val="EEF2F7"/>
          </a:solidFill>
          <a:ln w="7620">
            <a:solidFill>
              <a:srgbClr val="697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24712" y="2404872"/>
            <a:ext cx="1353312" cy="74980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Aft>
                <a:spcPts val="300"/>
              </a:spcAft>
              <a:defRPr sz="1200" b="0">
                <a:solidFill>
                  <a:srgbClr val="27313D"/>
                </a:solidFill>
                <a:latin typeface="Yu Gothic"/>
              </a:defRPr>
            </a:pPr>
            <a:r>
              <a:t>小学校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42032" y="2359152"/>
            <a:ext cx="1408176" cy="841248"/>
          </a:xfrm>
          <a:prstGeom prst="rect">
            <a:avLst/>
          </a:prstGeom>
          <a:solidFill>
            <a:srgbClr val="EEF2F7"/>
          </a:solidFill>
          <a:ln w="7620">
            <a:solidFill>
              <a:srgbClr val="697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69464" y="2404872"/>
            <a:ext cx="1353312" cy="74980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Aft>
                <a:spcPts val="300"/>
              </a:spcAft>
              <a:defRPr sz="1200" b="0">
                <a:solidFill>
                  <a:srgbClr val="27313D"/>
                </a:solidFill>
                <a:latin typeface="Yu Gothic"/>
              </a:defRPr>
            </a:pPr>
            <a:r>
              <a:t>小学校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986784" y="2359152"/>
            <a:ext cx="1408176" cy="841248"/>
          </a:xfrm>
          <a:prstGeom prst="rect">
            <a:avLst/>
          </a:prstGeom>
          <a:solidFill>
            <a:srgbClr val="EEF2F7"/>
          </a:solidFill>
          <a:ln w="7620">
            <a:solidFill>
              <a:srgbClr val="697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014216" y="2404872"/>
            <a:ext cx="1353312" cy="74980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Aft>
                <a:spcPts val="300"/>
              </a:spcAft>
              <a:defRPr sz="1200" b="0">
                <a:solidFill>
                  <a:srgbClr val="27313D"/>
                </a:solidFill>
                <a:latin typeface="Yu Gothic"/>
              </a:defRPr>
            </a:pPr>
            <a:r>
              <a:t>小学校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31536" y="2359152"/>
            <a:ext cx="1408176" cy="841248"/>
          </a:xfrm>
          <a:prstGeom prst="rect">
            <a:avLst/>
          </a:prstGeom>
          <a:solidFill>
            <a:srgbClr val="EEF2F7"/>
          </a:solidFill>
          <a:ln w="7620">
            <a:solidFill>
              <a:srgbClr val="697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58968" y="2404872"/>
            <a:ext cx="1353312" cy="74980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Aft>
                <a:spcPts val="300"/>
              </a:spcAft>
              <a:defRPr sz="1200" b="0">
                <a:solidFill>
                  <a:srgbClr val="27313D"/>
                </a:solidFill>
                <a:latin typeface="Yu Gothic"/>
              </a:defRPr>
            </a:pPr>
            <a:r>
              <a:t>小学校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76288" y="2359152"/>
            <a:ext cx="1408176" cy="841248"/>
          </a:xfrm>
          <a:prstGeom prst="rect">
            <a:avLst/>
          </a:prstGeom>
          <a:solidFill>
            <a:srgbClr val="EEF2F7"/>
          </a:solidFill>
          <a:ln w="7620">
            <a:solidFill>
              <a:srgbClr val="697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03720" y="2404872"/>
            <a:ext cx="1353312" cy="74980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Aft>
                <a:spcPts val="300"/>
              </a:spcAft>
              <a:defRPr sz="1200" b="0">
                <a:solidFill>
                  <a:srgbClr val="27313D"/>
                </a:solidFill>
                <a:latin typeface="Yu Gothic"/>
              </a:defRPr>
            </a:pPr>
            <a:r>
              <a:t>小学校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321040" y="2359152"/>
            <a:ext cx="1408176" cy="841248"/>
          </a:xfrm>
          <a:prstGeom prst="rect">
            <a:avLst/>
          </a:prstGeom>
          <a:solidFill>
            <a:srgbClr val="EEF2F7"/>
          </a:solidFill>
          <a:ln w="7620">
            <a:solidFill>
              <a:srgbClr val="697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48471" y="2404872"/>
            <a:ext cx="1353312" cy="74980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Aft>
                <a:spcPts val="300"/>
              </a:spcAft>
              <a:defRPr sz="1000" b="1">
                <a:solidFill>
                  <a:srgbClr val="992D23"/>
                </a:solidFill>
                <a:latin typeface="Yu Gothic"/>
              </a:defRPr>
            </a:pPr>
            <a:r>
              <a:t>日能研テスト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765792" y="2359152"/>
            <a:ext cx="1408176" cy="841248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47472" y="3410712"/>
            <a:ext cx="658368" cy="54864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Aft>
                <a:spcPts val="300"/>
              </a:spcAft>
              <a:defRPr sz="1000" b="1">
                <a:solidFill>
                  <a:srgbClr val="76828E"/>
                </a:solidFill>
                <a:latin typeface="Yu Gothic"/>
              </a:defRPr>
            </a:pPr>
            <a:r>
              <a:t>夕方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97280" y="3319272"/>
            <a:ext cx="1408176" cy="841248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542032" y="3319272"/>
            <a:ext cx="1408176" cy="841248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986784" y="3319272"/>
            <a:ext cx="1408176" cy="841248"/>
          </a:xfrm>
          <a:prstGeom prst="rect">
            <a:avLst/>
          </a:prstGeom>
          <a:solidFill>
            <a:srgbClr val="EEF2F7"/>
          </a:solidFill>
          <a:ln w="7620">
            <a:solidFill>
              <a:srgbClr val="697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014216" y="3364991"/>
            <a:ext cx="1353312" cy="74980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Aft>
                <a:spcPts val="300"/>
              </a:spcAft>
              <a:defRPr sz="1200" b="1">
                <a:solidFill>
                  <a:srgbClr val="992D23"/>
                </a:solidFill>
                <a:latin typeface="Yu Gothic"/>
              </a:defRPr>
            </a:pPr>
            <a:r>
              <a:t>日能研授業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31536" y="3319272"/>
            <a:ext cx="1408176" cy="841248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876288" y="3319272"/>
            <a:ext cx="1408176" cy="841248"/>
          </a:xfrm>
          <a:prstGeom prst="rect">
            <a:avLst/>
          </a:prstGeom>
          <a:solidFill>
            <a:srgbClr val="EEF2F7"/>
          </a:solidFill>
          <a:ln w="7620">
            <a:solidFill>
              <a:srgbClr val="697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903720" y="3364991"/>
            <a:ext cx="1353312" cy="74980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Aft>
                <a:spcPts val="300"/>
              </a:spcAft>
              <a:defRPr sz="1200" b="1">
                <a:solidFill>
                  <a:srgbClr val="992D23"/>
                </a:solidFill>
                <a:latin typeface="Yu Gothic"/>
              </a:defRPr>
            </a:pPr>
            <a:r>
              <a:t>日能研授業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321040" y="3319272"/>
            <a:ext cx="1408176" cy="841248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765792" y="3319272"/>
            <a:ext cx="1408176" cy="841248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47472" y="4370831"/>
            <a:ext cx="658368" cy="54864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Aft>
                <a:spcPts val="300"/>
              </a:spcAft>
              <a:defRPr sz="1000" b="1">
                <a:solidFill>
                  <a:srgbClr val="76828E"/>
                </a:solidFill>
                <a:latin typeface="Yu Gothic"/>
              </a:defRPr>
            </a:pPr>
            <a:r>
              <a:t>夜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97280" y="4279392"/>
            <a:ext cx="1408176" cy="841248"/>
          </a:xfrm>
          <a:prstGeom prst="rect">
            <a:avLst/>
          </a:prstGeom>
          <a:solidFill>
            <a:srgbClr val="EEF2F7"/>
          </a:solidFill>
          <a:ln w="7620">
            <a:solidFill>
              <a:srgbClr val="697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24712" y="4325112"/>
            <a:ext cx="1353312" cy="74980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Aft>
                <a:spcPts val="300"/>
              </a:spcAft>
              <a:defRPr sz="1200" b="0">
                <a:solidFill>
                  <a:srgbClr val="27313D"/>
                </a:solidFill>
                <a:latin typeface="Yu Gothic"/>
              </a:defRPr>
            </a:pPr>
            <a:r>
              <a:t>漢字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542032" y="4279392"/>
            <a:ext cx="1408176" cy="841248"/>
          </a:xfrm>
          <a:prstGeom prst="rect">
            <a:avLst/>
          </a:prstGeom>
          <a:solidFill>
            <a:srgbClr val="EEF2F7"/>
          </a:solidFill>
          <a:ln w="7620">
            <a:solidFill>
              <a:srgbClr val="697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569464" y="4325112"/>
            <a:ext cx="1353312" cy="74980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Aft>
                <a:spcPts val="300"/>
              </a:spcAft>
              <a:defRPr sz="1200" b="0">
                <a:solidFill>
                  <a:srgbClr val="27313D"/>
                </a:solidFill>
                <a:latin typeface="Yu Gothic"/>
              </a:defRPr>
            </a:pPr>
            <a:r>
              <a:t>計算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986784" y="4279392"/>
            <a:ext cx="1408176" cy="841248"/>
          </a:xfrm>
          <a:prstGeom prst="rect">
            <a:avLst/>
          </a:prstGeom>
          <a:solidFill>
            <a:srgbClr val="EEF2F7"/>
          </a:solidFill>
          <a:ln w="7620">
            <a:solidFill>
              <a:srgbClr val="697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014216" y="4325112"/>
            <a:ext cx="1353312" cy="74980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Aft>
                <a:spcPts val="300"/>
              </a:spcAft>
              <a:defRPr sz="1200" b="0">
                <a:solidFill>
                  <a:srgbClr val="27313D"/>
                </a:solidFill>
                <a:latin typeface="Yu Gothic"/>
              </a:defRPr>
            </a:pPr>
            <a:r>
              <a:t>自習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431536" y="4279392"/>
            <a:ext cx="1408176" cy="841248"/>
          </a:xfrm>
          <a:prstGeom prst="rect">
            <a:avLst/>
          </a:prstGeom>
          <a:solidFill>
            <a:srgbClr val="EEF2F7"/>
          </a:solidFill>
          <a:ln w="7620">
            <a:solidFill>
              <a:srgbClr val="697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458968" y="4325112"/>
            <a:ext cx="1353312" cy="74980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Aft>
                <a:spcPts val="300"/>
              </a:spcAft>
              <a:defRPr sz="1200" b="0">
                <a:solidFill>
                  <a:srgbClr val="27313D"/>
                </a:solidFill>
                <a:latin typeface="Yu Gothic"/>
              </a:defRPr>
            </a:pPr>
            <a:r>
              <a:t>社会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876288" y="4279392"/>
            <a:ext cx="1408176" cy="841248"/>
          </a:xfrm>
          <a:prstGeom prst="rect">
            <a:avLst/>
          </a:prstGeom>
          <a:solidFill>
            <a:srgbClr val="EEF2F7"/>
          </a:solidFill>
          <a:ln w="7620">
            <a:solidFill>
              <a:srgbClr val="697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903720" y="4325112"/>
            <a:ext cx="1353312" cy="74980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Aft>
                <a:spcPts val="300"/>
              </a:spcAft>
              <a:defRPr sz="1200" b="0">
                <a:solidFill>
                  <a:srgbClr val="27313D"/>
                </a:solidFill>
                <a:latin typeface="Yu Gothic"/>
              </a:defRPr>
            </a:pPr>
            <a:r>
              <a:t>自習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321040" y="4279392"/>
            <a:ext cx="1408176" cy="841248"/>
          </a:xfrm>
          <a:prstGeom prst="rect">
            <a:avLst/>
          </a:prstGeom>
          <a:solidFill>
            <a:srgbClr val="EEF2F7"/>
          </a:solidFill>
          <a:ln w="7620">
            <a:solidFill>
              <a:srgbClr val="697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348471" y="4325112"/>
            <a:ext cx="1353312" cy="74980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Aft>
                <a:spcPts val="300"/>
              </a:spcAft>
              <a:defRPr sz="1200" b="0">
                <a:solidFill>
                  <a:srgbClr val="27313D"/>
                </a:solidFill>
                <a:latin typeface="Yu Gothic"/>
              </a:defRPr>
            </a:pPr>
            <a:r>
              <a:t>テスト直し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765792" y="4279392"/>
            <a:ext cx="1408176" cy="841248"/>
          </a:xfrm>
          <a:prstGeom prst="rect">
            <a:avLst/>
          </a:prstGeom>
          <a:solidFill>
            <a:srgbClr val="EEF2F7"/>
          </a:solidFill>
          <a:ln w="7620">
            <a:solidFill>
              <a:srgbClr val="697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793224" y="4325112"/>
            <a:ext cx="1353312" cy="74980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Aft>
                <a:spcPts val="300"/>
              </a:spcAft>
              <a:defRPr sz="1200" b="0">
                <a:solidFill>
                  <a:srgbClr val="27313D"/>
                </a:solidFill>
                <a:latin typeface="Yu Gothic"/>
              </a:defRPr>
            </a:pPr>
            <a:r>
              <a:t>計算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22960" y="5486400"/>
            <a:ext cx="10515600" cy="41148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Aft>
                <a:spcPts val="300"/>
              </a:spcAft>
              <a:defRPr sz="1600" b="1">
                <a:solidFill>
                  <a:srgbClr val="992D23"/>
                </a:solidFill>
                <a:latin typeface="Yu Gothic"/>
              </a:defRPr>
            </a:pPr>
            <a:r>
              <a:t>大切なのは、長時間よりも「続けられる形」をつくること。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66928" y="6510528"/>
            <a:ext cx="3657600" cy="16459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Aft>
                <a:spcPts val="300"/>
              </a:spcAft>
              <a:defRPr sz="800" b="0">
                <a:solidFill>
                  <a:srgbClr val="76828E"/>
                </a:solidFill>
                <a:latin typeface="Yu Gothic"/>
              </a:defRPr>
            </a:pPr>
            <a:r>
              <a:t>日能研 御器所校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11045952" y="512064"/>
            <a:ext cx="182880" cy="0"/>
          </a:xfrm>
          <a:prstGeom prst="line">
            <a:avLst/>
          </a:prstGeom>
          <a:ln w="13970">
            <a:solidFill>
              <a:srgbClr val="9736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11137392" y="420624"/>
            <a:ext cx="0" cy="182880"/>
          </a:xfrm>
          <a:prstGeom prst="line">
            <a:avLst/>
          </a:prstGeom>
          <a:ln w="13970">
            <a:solidFill>
              <a:srgbClr val="9736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11087100" y="461772"/>
            <a:ext cx="100584" cy="100584"/>
          </a:xfrm>
          <a:prstGeom prst="line">
            <a:avLst/>
          </a:prstGeom>
          <a:ln w="10160">
            <a:solidFill>
              <a:srgbClr val="9736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11087100" y="461772"/>
            <a:ext cx="100584" cy="100584"/>
          </a:xfrm>
          <a:prstGeom prst="line">
            <a:avLst/>
          </a:prstGeom>
          <a:ln w="10160">
            <a:solidFill>
              <a:srgbClr val="9736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Oval 66"/>
          <p:cNvSpPr/>
          <p:nvPr/>
        </p:nvSpPr>
        <p:spPr>
          <a:xfrm>
            <a:off x="9857232" y="4837176"/>
            <a:ext cx="310896" cy="256032"/>
          </a:xfrm>
          <a:prstGeom prst="ellipse">
            <a:avLst/>
          </a:prstGeom>
          <a:noFill/>
          <a:ln w="13970">
            <a:solidFill>
              <a:srgbClr val="688B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10058400" y="4709160"/>
            <a:ext cx="384048" cy="347472"/>
          </a:xfrm>
          <a:prstGeom prst="ellipse">
            <a:avLst/>
          </a:prstGeom>
          <a:noFill/>
          <a:ln w="13970">
            <a:solidFill>
              <a:srgbClr val="688B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10314432" y="4818888"/>
            <a:ext cx="347472" cy="256032"/>
          </a:xfrm>
          <a:prstGeom prst="ellipse">
            <a:avLst/>
          </a:prstGeom>
          <a:noFill/>
          <a:ln w="13970">
            <a:solidFill>
              <a:srgbClr val="688B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0" name="Connector 69"/>
          <p:cNvCxnSpPr/>
          <p:nvPr/>
        </p:nvCxnSpPr>
        <p:spPr>
          <a:xfrm>
            <a:off x="9893807" y="5065776"/>
            <a:ext cx="694945" cy="0"/>
          </a:xfrm>
          <a:prstGeom prst="line">
            <a:avLst/>
          </a:prstGeom>
          <a:ln w="13970">
            <a:solidFill>
              <a:srgbClr val="688B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10771632" y="4572000"/>
            <a:ext cx="219456" cy="0"/>
          </a:xfrm>
          <a:prstGeom prst="line">
            <a:avLst/>
          </a:prstGeom>
          <a:ln w="13970">
            <a:solidFill>
              <a:srgbClr val="9736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10881360" y="4462272"/>
            <a:ext cx="0" cy="219456"/>
          </a:xfrm>
          <a:prstGeom prst="line">
            <a:avLst/>
          </a:prstGeom>
          <a:ln w="13970">
            <a:solidFill>
              <a:srgbClr val="9736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10821009" y="4511649"/>
            <a:ext cx="120701" cy="120701"/>
          </a:xfrm>
          <a:prstGeom prst="line">
            <a:avLst/>
          </a:prstGeom>
          <a:ln w="10160">
            <a:solidFill>
              <a:srgbClr val="9736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10821009" y="4511649"/>
            <a:ext cx="120701" cy="120701"/>
          </a:xfrm>
          <a:prstGeom prst="line">
            <a:avLst/>
          </a:prstGeom>
          <a:ln w="10160">
            <a:solidFill>
              <a:srgbClr val="9736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01168"/>
            <a:ext cx="7040880" cy="29260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Aft>
                <a:spcPts val="300"/>
              </a:spcAft>
              <a:defRPr sz="1200" b="1">
                <a:solidFill>
                  <a:srgbClr val="76828E"/>
                </a:solidFill>
                <a:latin typeface="Yu Gothic"/>
              </a:defRPr>
            </a:pPr>
            <a:r>
              <a:t>9歳前後の子どもと、日能研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03504"/>
            <a:ext cx="438912" cy="32004"/>
          </a:xfrm>
          <a:prstGeom prst="rect">
            <a:avLst/>
          </a:prstGeom>
          <a:solidFill>
            <a:srgbClr val="992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869680" y="201168"/>
            <a:ext cx="2194560" cy="2743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>
              <a:spcAft>
                <a:spcPts val="300"/>
              </a:spcAft>
              <a:defRPr sz="1000" b="1">
                <a:solidFill>
                  <a:srgbClr val="697F96"/>
                </a:solidFill>
                <a:latin typeface="Yu Gothic"/>
              </a:defRPr>
            </a:pPr>
            <a:r>
              <a:t>自習・質問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182880"/>
            <a:ext cx="438912" cy="2743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>
              <a:spcAft>
                <a:spcPts val="300"/>
              </a:spcAft>
              <a:defRPr sz="1000" b="0">
                <a:solidFill>
                  <a:srgbClr val="76828E"/>
                </a:solidFill>
                <a:latin typeface="Yu Gothic"/>
              </a:defRPr>
            </a:pPr>
            <a: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10607040" cy="5943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Aft>
                <a:spcPts val="300"/>
              </a:spcAft>
              <a:defRPr sz="2500" b="1">
                <a:solidFill>
                  <a:srgbClr val="27313D"/>
                </a:solidFill>
                <a:latin typeface="Yu Gothic"/>
              </a:defRPr>
            </a:pPr>
            <a:r>
              <a:t>授業や教材以外にも、「やる気」のきっかけがある。</a:t>
            </a:r>
          </a:p>
        </p:txBody>
      </p:sp>
      <p:pic>
        <p:nvPicPr>
          <p:cNvPr id="8" name="Picture 7" descr="_photo_IMG_6900(1)_0.8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37360"/>
            <a:ext cx="5577840" cy="33375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720840" y="1828800"/>
            <a:ext cx="4389120" cy="45720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Aft>
                <a:spcPts val="300"/>
              </a:spcAft>
              <a:defRPr sz="2200" b="1">
                <a:solidFill>
                  <a:srgbClr val="992D23"/>
                </a:solidFill>
                <a:latin typeface="Yu Gothic"/>
              </a:defRPr>
            </a:pPr>
            <a:r>
              <a:t>自習・質問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2514600"/>
            <a:ext cx="4389120" cy="12801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Aft>
                <a:spcPts val="300"/>
              </a:spcAft>
              <a:defRPr sz="1600" b="0">
                <a:solidFill>
                  <a:srgbClr val="27313D"/>
                </a:solidFill>
                <a:latin typeface="Yu Gothic"/>
              </a:defRPr>
            </a:pPr>
            <a:r>
              <a:t>先生に質問する。</a:t>
            </a:r>
          </a:p>
          <a:p>
            <a:pPr algn="l">
              <a:spcAft>
                <a:spcPts val="300"/>
              </a:spcAft>
              <a:defRPr sz="1600" b="0">
                <a:solidFill>
                  <a:srgbClr val="27313D"/>
                </a:solidFill>
                <a:latin typeface="Yu Gothic"/>
              </a:defRPr>
            </a:pPr>
            <a:r>
              <a:t>仲間と一緒に取り組む。</a:t>
            </a:r>
          </a:p>
          <a:p>
            <a:pPr algn="l">
              <a:spcAft>
                <a:spcPts val="300"/>
              </a:spcAft>
              <a:defRPr sz="1600" b="0">
                <a:solidFill>
                  <a:srgbClr val="27313D"/>
                </a:solidFill>
                <a:latin typeface="Yu Gothic"/>
              </a:defRPr>
            </a:pPr>
            <a:r>
              <a:t>安心して過ごせる場所がある。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20840" y="4160520"/>
            <a:ext cx="4297680" cy="32004"/>
          </a:xfrm>
          <a:prstGeom prst="rect">
            <a:avLst/>
          </a:prstGeom>
          <a:solidFill>
            <a:srgbClr val="992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4389120"/>
            <a:ext cx="4343400" cy="68580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Aft>
                <a:spcPts val="300"/>
              </a:spcAft>
              <a:defRPr sz="1500" b="0">
                <a:solidFill>
                  <a:srgbClr val="76828E"/>
                </a:solidFill>
                <a:latin typeface="Yu Gothic"/>
              </a:defRPr>
            </a:pPr>
            <a:r>
              <a:t>「もう少しやってみよう」が生まれる環境を整えます。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510528"/>
            <a:ext cx="3657600" cy="16459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Aft>
                <a:spcPts val="300"/>
              </a:spcAft>
              <a:defRPr sz="800" b="0">
                <a:solidFill>
                  <a:srgbClr val="76828E"/>
                </a:solidFill>
                <a:latin typeface="Yu Gothic"/>
              </a:defRPr>
            </a:pPr>
            <a:r>
              <a:t>日能研 御器所校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1045952" y="512064"/>
            <a:ext cx="182880" cy="0"/>
          </a:xfrm>
          <a:prstGeom prst="line">
            <a:avLst/>
          </a:prstGeom>
          <a:ln w="13970">
            <a:solidFill>
              <a:srgbClr val="688B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1137392" y="420624"/>
            <a:ext cx="0" cy="182880"/>
          </a:xfrm>
          <a:prstGeom prst="line">
            <a:avLst/>
          </a:prstGeom>
          <a:ln w="13970">
            <a:solidFill>
              <a:srgbClr val="688B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087100" y="461772"/>
            <a:ext cx="100584" cy="100584"/>
          </a:xfrm>
          <a:prstGeom prst="line">
            <a:avLst/>
          </a:prstGeom>
          <a:ln w="10160">
            <a:solidFill>
              <a:srgbClr val="688B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1087100" y="461772"/>
            <a:ext cx="100584" cy="100584"/>
          </a:xfrm>
          <a:prstGeom prst="line">
            <a:avLst/>
          </a:prstGeom>
          <a:ln w="10160">
            <a:solidFill>
              <a:srgbClr val="688B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9966960" y="4572000"/>
            <a:ext cx="777240" cy="777240"/>
          </a:xfrm>
          <a:prstGeom prst="ellipse">
            <a:avLst/>
          </a:prstGeom>
          <a:noFill/>
          <a:ln w="15240">
            <a:solidFill>
              <a:srgbClr val="688B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10351008" y="4663440"/>
            <a:ext cx="0" cy="594360"/>
          </a:xfrm>
          <a:prstGeom prst="line">
            <a:avLst/>
          </a:prstGeom>
          <a:ln w="15240">
            <a:solidFill>
              <a:srgbClr val="688B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131552" y="4956048"/>
            <a:ext cx="438912" cy="0"/>
          </a:xfrm>
          <a:prstGeom prst="line">
            <a:avLst/>
          </a:prstGeom>
          <a:ln w="15240">
            <a:solidFill>
              <a:srgbClr val="688B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01168"/>
            <a:ext cx="7040880" cy="29260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Aft>
                <a:spcPts val="300"/>
              </a:spcAft>
              <a:defRPr sz="1200" b="1">
                <a:solidFill>
                  <a:srgbClr val="76828E"/>
                </a:solidFill>
                <a:latin typeface="Yu Gothic"/>
              </a:defRPr>
            </a:pPr>
            <a:r>
              <a:t>9歳前後の子どもと、日能研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03504"/>
            <a:ext cx="438912" cy="32004"/>
          </a:xfrm>
          <a:prstGeom prst="rect">
            <a:avLst/>
          </a:prstGeom>
          <a:solidFill>
            <a:srgbClr val="992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869680" y="201168"/>
            <a:ext cx="2194560" cy="2743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>
              <a:spcAft>
                <a:spcPts val="300"/>
              </a:spcAft>
              <a:defRPr sz="1000" b="1">
                <a:solidFill>
                  <a:srgbClr val="697F96"/>
                </a:solidFill>
                <a:latin typeface="Yu Gothic"/>
              </a:defRPr>
            </a:pPr>
            <a:r>
              <a:t>まとめ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182880"/>
            <a:ext cx="438912" cy="2743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>
              <a:spcAft>
                <a:spcPts val="300"/>
              </a:spcAft>
              <a:defRPr sz="1000" b="0">
                <a:solidFill>
                  <a:srgbClr val="76828E"/>
                </a:solidFill>
                <a:latin typeface="Yu Gothic"/>
              </a:defRPr>
            </a:pPr>
            <a: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10607040" cy="64008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Aft>
                <a:spcPts val="300"/>
              </a:spcAft>
              <a:defRPr sz="2900" b="1">
                <a:solidFill>
                  <a:srgbClr val="27313D"/>
                </a:solidFill>
                <a:latin typeface="Yu Gothic"/>
              </a:defRPr>
            </a:pPr>
            <a:r>
              <a:t>「今の自分」のやる気を育む。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1600200"/>
            <a:ext cx="10424160" cy="41148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Aft>
                <a:spcPts val="300"/>
              </a:spcAft>
              <a:defRPr sz="1600" b="0">
                <a:solidFill>
                  <a:srgbClr val="76828E"/>
                </a:solidFill>
                <a:latin typeface="Yu Gothic"/>
              </a:defRPr>
            </a:pPr>
            <a:r>
              <a:t>きっかけは、一人ひとり違います。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423160"/>
            <a:ext cx="3246120" cy="146304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633472"/>
            <a:ext cx="2880360" cy="3657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Aft>
                <a:spcPts val="300"/>
              </a:spcAft>
              <a:defRPr sz="1900" b="1">
                <a:solidFill>
                  <a:srgbClr val="992D23"/>
                </a:solidFill>
                <a:latin typeface="Yu Gothic"/>
              </a:defRPr>
            </a:pPr>
            <a:r>
              <a:t>好きなもの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127248"/>
            <a:ext cx="2880360" cy="41148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Aft>
                <a:spcPts val="300"/>
              </a:spcAft>
              <a:defRPr sz="1400" b="0">
                <a:solidFill>
                  <a:srgbClr val="27313D"/>
                </a:solidFill>
                <a:latin typeface="Yu Gothic"/>
              </a:defRPr>
            </a:pPr>
            <a:r>
              <a:t>興味が入口になる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34840" y="2423160"/>
            <a:ext cx="3246120" cy="146304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2633472"/>
            <a:ext cx="2880360" cy="3657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Aft>
                <a:spcPts val="300"/>
              </a:spcAft>
              <a:defRPr sz="1900" b="1">
                <a:solidFill>
                  <a:srgbClr val="992D23"/>
                </a:solidFill>
                <a:latin typeface="Yu Gothic"/>
              </a:defRPr>
            </a:pPr>
            <a:r>
              <a:t>嬉しかったこと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3127248"/>
            <a:ext cx="2880360" cy="41148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Aft>
                <a:spcPts val="300"/>
              </a:spcAft>
              <a:defRPr sz="1400" b="0">
                <a:solidFill>
                  <a:srgbClr val="27313D"/>
                </a:solidFill>
                <a:latin typeface="Yu Gothic"/>
              </a:defRPr>
            </a:pPr>
            <a:r>
              <a:t>達成感につながる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92440" y="2423160"/>
            <a:ext cx="3246120" cy="146304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19" y="2633472"/>
            <a:ext cx="2880360" cy="3657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Aft>
                <a:spcPts val="300"/>
              </a:spcAft>
              <a:defRPr sz="1900" b="1">
                <a:solidFill>
                  <a:srgbClr val="992D23"/>
                </a:solidFill>
                <a:latin typeface="Yu Gothic"/>
              </a:defRPr>
            </a:pPr>
            <a:r>
              <a:t>認められたこと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3127248"/>
            <a:ext cx="2880360" cy="41148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Aft>
                <a:spcPts val="300"/>
              </a:spcAft>
              <a:defRPr sz="1400" b="0">
                <a:solidFill>
                  <a:srgbClr val="27313D"/>
                </a:solidFill>
                <a:latin typeface="Yu Gothic"/>
              </a:defRPr>
            </a:pPr>
            <a:r>
              <a:t>自信につながる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4572000"/>
            <a:ext cx="10561320" cy="1051560"/>
          </a:xfrm>
          <a:prstGeom prst="rect">
            <a:avLst/>
          </a:prstGeom>
          <a:solidFill>
            <a:srgbClr val="FFFFFF"/>
          </a:solidFill>
          <a:ln w="25400">
            <a:solidFill>
              <a:srgbClr val="992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709160"/>
            <a:ext cx="10104120" cy="7315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Aft>
                <a:spcPts val="300"/>
              </a:spcAft>
              <a:defRPr sz="2100" b="1">
                <a:solidFill>
                  <a:srgbClr val="27313D"/>
                </a:solidFill>
                <a:latin typeface="Yu Gothic"/>
              </a:defRPr>
            </a:pPr>
            <a:r>
              <a:t>小さなきっかけを、学習習慣へ。</a:t>
            </a:r>
          </a:p>
          <a:p>
            <a:pPr algn="ctr">
              <a:spcAft>
                <a:spcPts val="300"/>
              </a:spcAft>
              <a:defRPr sz="2100" b="1">
                <a:solidFill>
                  <a:srgbClr val="27313D"/>
                </a:solidFill>
                <a:latin typeface="Yu Gothic"/>
              </a:defRPr>
            </a:pPr>
            <a:r>
              <a:t>そして、未来につながる力へ。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510528"/>
            <a:ext cx="3657600" cy="16459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Aft>
                <a:spcPts val="300"/>
              </a:spcAft>
              <a:defRPr sz="800" b="0">
                <a:solidFill>
                  <a:srgbClr val="76828E"/>
                </a:solidFill>
                <a:latin typeface="Yu Gothic"/>
              </a:defRPr>
            </a:pPr>
            <a:r>
              <a:t>日能研 御器所校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1045952" y="512064"/>
            <a:ext cx="182880" cy="0"/>
          </a:xfrm>
          <a:prstGeom prst="line">
            <a:avLst/>
          </a:prstGeom>
          <a:ln w="13970">
            <a:solidFill>
              <a:srgbClr val="9736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1137392" y="420624"/>
            <a:ext cx="0" cy="182880"/>
          </a:xfrm>
          <a:prstGeom prst="line">
            <a:avLst/>
          </a:prstGeom>
          <a:ln w="13970">
            <a:solidFill>
              <a:srgbClr val="9736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1087100" y="461772"/>
            <a:ext cx="100584" cy="100584"/>
          </a:xfrm>
          <a:prstGeom prst="line">
            <a:avLst/>
          </a:prstGeom>
          <a:ln w="10160">
            <a:solidFill>
              <a:srgbClr val="9736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1087100" y="461772"/>
            <a:ext cx="100584" cy="100584"/>
          </a:xfrm>
          <a:prstGeom prst="line">
            <a:avLst/>
          </a:prstGeom>
          <a:ln w="10160">
            <a:solidFill>
              <a:srgbClr val="9736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10287000" y="4709160"/>
            <a:ext cx="502920" cy="658368"/>
          </a:xfrm>
          <a:prstGeom prst="rect">
            <a:avLst/>
          </a:prstGeom>
          <a:solidFill>
            <a:srgbClr val="FFFFFF"/>
          </a:solidFill>
          <a:ln w="17780">
            <a:solidFill>
              <a:srgbClr val="9736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10538460" y="4736592"/>
            <a:ext cx="0" cy="603504"/>
          </a:xfrm>
          <a:prstGeom prst="line">
            <a:avLst/>
          </a:prstGeom>
          <a:ln w="12700">
            <a:solidFill>
              <a:srgbClr val="9736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0360152" y="4855464"/>
            <a:ext cx="117957" cy="0"/>
          </a:xfrm>
          <a:prstGeom prst="line">
            <a:avLst/>
          </a:prstGeom>
          <a:ln w="8890">
            <a:solidFill>
              <a:srgbClr val="AAB7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578693" y="4855464"/>
            <a:ext cx="160935" cy="0"/>
          </a:xfrm>
          <a:prstGeom prst="line">
            <a:avLst/>
          </a:prstGeom>
          <a:ln w="8890">
            <a:solidFill>
              <a:srgbClr val="AAB7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